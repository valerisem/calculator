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client name, date and campaign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 Edit only if positioning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uplift seen on campaigns using Brainwave. Check figures are current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any part not in scope; keep part numbers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five objectives. Lead with awareness, then channels, creators, conversation,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Part 1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months to the agreed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Part 2. Each following slide carries its step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insights max. Duplicate the slide for a "what is working"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lengths are illustrative; set each bar width to the real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YouTube Shorts or others if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for each audience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six types. Keep descriptions to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per creator type. Examples only; final shortlist comes after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idea. Keep the headline to five words or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 across the funnel. Rename pillars per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per concept. Duplicate per pillar; keep the pillar pill and concept number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example hook per pillar. Brainwave ranks hooks at the content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free period: the source deck says 3 months on one line and 2 months on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reporting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rows for parts not in scope. Agency fees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bracketed value per proposal. Pull numbers from the creator calculator.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bracketed value per proposal. Guaranteed tiles are contractual; the dashed box is an estimate. Check CPV against eCPM: €9 CPM = €0.009 per view. Gifted: show videos expected, not creators gifted.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Projections, not guarantees. State the repeat-purchase assumption used for lifetime value. Keep one currency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link with the campaign breakdown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for this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2B1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3629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2550"/>
            <a:ext cx="10566400" cy="4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3629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2550"/>
            <a:ext cx="10566400" cy="4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3629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2550"/>
            <a:ext cx="10566400" cy="4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houseofmarketers.com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3656261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 · [MONTH YEAR]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994051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i="0" dirty="0">
                <a:gradFill rotWithShape="1">
                  <a:gsLst>
                    <a:gs pos="0">
                      <a:srgbClr val="E91E8C"/>
                    </a:gs>
                    <a:gs pos="55000">
                      <a:srgbClr val="8B5CF6"/>
                    </a:gs>
                    <a:gs pos="100000">
                      <a:srgbClr val="19C5FF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[CLIENT NAME]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12800" y="4971951"/>
            <a:ext cx="10883392" cy="46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&amp; INFLUENCER PROPOSAL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5550545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[Campaign line, e.g. The human way]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65780" y="6276330"/>
            <a:ext cx="213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HOUSE OF MARKETERS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SETS US APART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523950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The first agency, agile at scale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2123380"/>
            <a:ext cx="2520950" cy="3715445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2355155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2779316"/>
            <a:ext cx="21191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creative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3325416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Brainwave, our AI platform, reviews every video before it goes live.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5675" y="2123380"/>
            <a:ext cx="2520950" cy="3715445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7450" y="2355155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27450" y="2779316"/>
            <a:ext cx="21191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TikTok-first since 2020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27450" y="3325416"/>
            <a:ext cx="21191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by one of the first TikTok EMEA employees.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75" y="2123380"/>
            <a:ext cx="2520950" cy="3715445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7150" y="2355155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7150" y="2779316"/>
            <a:ext cx="211912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at 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7150" y="3096816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of the largest influencer outreach teams of any agency.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5075" y="2123380"/>
            <a:ext cx="2520950" cy="3715445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6850" y="2355155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86850" y="2779316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on results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86850" y="3096816"/>
            <a:ext cx="211912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views, brand uplift and sentiment reporting on every campaign.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35618" y="6276330"/>
            <a:ext cx="2435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AI PLATFORM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BRAINWAVE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844850"/>
            <a:ext cx="570331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use AI to make every video perform before, during and after it posts.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4003030"/>
            <a:ext cx="570331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 measures attention, emotion, cognition and memory against your target audience, with 98% accurate predictions of advertising impact.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56375" y="1755725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8150" y="1987500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19C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POSTING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88150" y="227449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every creator video and tells us what to fix: hook, overlays, pacing, CTA.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56375" y="3101876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8150" y="3333651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19C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LIVE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88150" y="362064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testing loops every 2 to 4 weeks, so each wave of briefs uses what is working.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6375" y="4448026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8150" y="4679801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19C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PAID 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8150" y="496679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strongest clips in each video to cut into paid ads.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36313" y="6276330"/>
            <a:ext cx="2428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BRAINWAVE RESULTS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PERFORMANCE UPLIFT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5792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awareness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8892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667" y="19875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+121%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20667" y="25792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recall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1809" y="1755725"/>
            <a:ext cx="3414216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584" y="1987500"/>
            <a:ext cx="303918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+82%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93584" y="2579291"/>
            <a:ext cx="30391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spent on website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41084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+225%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47750" y="47001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8892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0667" y="41084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20667" y="47001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traffic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61809" y="3876625"/>
            <a:ext cx="3414216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584" y="4108400"/>
            <a:ext cx="303918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193584" y="4700191"/>
            <a:ext cx="30391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19941" y="6276330"/>
            <a:ext cx="2592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207966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[CLIENT]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533057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PROPOSAL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5385445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12800" y="5550545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[One line on what this proposal sets out to do]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DELIVER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PARTS, ONE CAMPAIGN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274491"/>
            <a:ext cx="211912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 creation]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750" y="285105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56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74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7450" y="2274491"/>
            <a:ext cx="2119122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27450" y="309488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71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7150" y="2274491"/>
            <a:ext cx="211912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[Paid ads]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7150" y="260722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50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68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6850" y="2274491"/>
            <a:ext cx="211912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[TikTok Shop]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6850" y="260722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27780" y="6276330"/>
            <a:ext cx="251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CAMPAIGN WILL ACHIEVE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95952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4000" y="1879550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4000" y="2133550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477046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68719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260722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2]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24000" y="286122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204716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41486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4000" y="333489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3]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4000" y="358889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932386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142532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4000" y="406256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4]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4000" y="431656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660057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870202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24000" y="4790232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5]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4000" y="5044232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31054" y="6276330"/>
            <a:ext cx="24814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482578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807668"/>
            <a:ext cx="10883392" cy="1476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CHANNEL CONTENT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5385445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12800" y="5550545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Build the channels before the campaign launches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APPROACH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RIGHT SPECIALISTS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073896"/>
            <a:ext cx="5991098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WANT A TIKTOK CHANNEL? </a:t>
            </a:r>
            <a:r>
              <a:rPr lang="en-US" sz="28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HIRE TIKTOK CREATORS.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4022824"/>
            <a:ext cx="599109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hire a production company for a TV ad and a photographer for a shoot. Social content works the same way.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37375" y="1755725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69150" y="1987500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Hired for craft, not audience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69150" y="2305000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UGC creators who make platform-native content.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37375" y="3096766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9150" y="3328541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Posted on your channels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69150" y="3646041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made exclusively for [Client] TikTok and Instagram.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37375" y="4437807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9150" y="4669582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cost-effective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69150" y="4987082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production crew, no reach fee, more content for the budget.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27780" y="6276330"/>
            <a:ext cx="251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TIMELINE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CHANNELS FIRST, THEN CAMPAIGN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177084" cy="3529409"/>
          </a:xfrm>
          <a:prstGeom prst="roundRect">
            <a:avLst>
              <a:gd name="adj" fmla="val 389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925" y="1990675"/>
            <a:ext cx="2707184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14182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73561"/>
            <a:ext cx="279494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channels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7750" y="2721521"/>
            <a:ext cx="279494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goes live first and how much content is banked]</a:t>
            </a:r>
            <a:endParaRPr lang="en-US" sz="1300" dirty="0"/>
          </a:p>
        </p:txBody>
      </p:sp>
      <p:pic>
        <p:nvPicPr>
          <p:cNvPr id="9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23234" y="3393430"/>
            <a:ext cx="254000" cy="254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07409" y="1755725"/>
            <a:ext cx="3177133" cy="3529409"/>
          </a:xfrm>
          <a:prstGeom prst="roundRect">
            <a:avLst>
              <a:gd name="adj" fmla="val 389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2359" y="1990675"/>
            <a:ext cx="2707233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14181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39184" y="2373561"/>
            <a:ext cx="279499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Influencers take over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39184" y="2721521"/>
            <a:ext cx="27949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[How creator content starts flowing in]</a:t>
            </a:r>
            <a:endParaRPr lang="en-US" sz="1300" dirty="0"/>
          </a:p>
        </p:txBody>
      </p:sp>
      <p:pic>
        <p:nvPicPr>
          <p:cNvPr id="14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4717" y="3393430"/>
            <a:ext cx="254000" cy="254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98892" y="1755725"/>
            <a:ext cx="3177133" cy="3529409"/>
          </a:xfrm>
          <a:prstGeom prst="roundRect">
            <a:avLst>
              <a:gd name="adj" fmla="val 389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33842" y="1990675"/>
            <a:ext cx="2707233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14181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30667" y="2373561"/>
            <a:ext cx="279499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Amplify &amp; repurpose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430667" y="2721521"/>
            <a:ext cx="27949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[How top performers are reused and boosted]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55931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 line on the connected content ecosystem this creates]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165185" y="6276330"/>
            <a:ext cx="21401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207966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533057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 CAMPAIGN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5385445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12800" y="5550545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How we plan, cast, create and measure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TWELVE STEPS TO LAUNCH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8932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490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490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6267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250" y="209609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250" y="2317055"/>
            <a:ext cx="22957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recommendation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3602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160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9160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155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creators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8932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490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4490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positioning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6267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25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25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strategy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3602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9160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9160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concepts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597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155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 strategy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8932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4490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4490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quality control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267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25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25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ads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83602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1600" y="48329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91600" y="5053905"/>
            <a:ext cx="22957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 &amp; reporting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178729" y="6276330"/>
            <a:ext cx="2004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01 · COMPETITOR ANALYSIS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CATEGORY GETS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4083100"/>
          </a:xfrm>
          <a:prstGeom prst="roundRect">
            <a:avLst>
              <a:gd name="adj" fmla="val 362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100" y="1993850"/>
            <a:ext cx="2937917" cy="1257300"/>
          </a:xfrm>
          <a:prstGeom prst="roundRect">
            <a:avLst>
              <a:gd name="adj" fmla="val 757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3346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1]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663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92" y="1755725"/>
            <a:ext cx="3414216" cy="4083100"/>
          </a:xfrm>
          <a:prstGeom prst="roundRect">
            <a:avLst>
              <a:gd name="adj" fmla="val 362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017" y="1993850"/>
            <a:ext cx="2937966" cy="1257300"/>
          </a:xfrm>
          <a:prstGeom prst="roundRect">
            <a:avLst>
              <a:gd name="adj" fmla="val 757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0667" y="33464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2]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0667" y="36639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1858" y="1755725"/>
            <a:ext cx="3414167" cy="4083100"/>
          </a:xfrm>
          <a:prstGeom prst="roundRect">
            <a:avLst>
              <a:gd name="adj" fmla="val 362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9983" y="1993850"/>
            <a:ext cx="2937917" cy="1257300"/>
          </a:xfrm>
          <a:prstGeom prst="roundRect">
            <a:avLst>
              <a:gd name="adj" fmla="val 757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3633" y="3346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3]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93633" y="3663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78431" y="6276330"/>
            <a:ext cx="20076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02 · BRAND ANALYSIS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 &amp; SENTIMENT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70548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678903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2529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1]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25750" y="234811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25750" y="2348111"/>
            <a:ext cx="4064000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016750" y="232529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7750" y="265038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2]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25750" y="267320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25750" y="2673201"/>
            <a:ext cx="4052441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016750" y="265038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750" y="297547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3]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25750" y="299829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25750" y="2998291"/>
            <a:ext cx="4034135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016750" y="297547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7750" y="330056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4]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25750" y="332338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25750" y="3323382"/>
            <a:ext cx="4000500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16750" y="330056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7750" y="3625652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5]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25750" y="364847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25750" y="3648472"/>
            <a:ext cx="3918843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016750" y="3625652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7750" y="3950742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25750" y="397356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25750" y="3973562"/>
            <a:ext cx="3291830" cy="152400"/>
          </a:xfrm>
          <a:prstGeom prst="roundRect">
            <a:avLst>
              <a:gd name="adj" fmla="val 50000"/>
            </a:avLst>
          </a:prstGeom>
          <a:solidFill>
            <a:srgbClr val="E91E8C"/>
          </a:solidFill>
          <a:ln/>
        </p:spPr>
      </p:sp>
      <p:sp>
        <p:nvSpPr>
          <p:cNvPr id="30" name="Text 28"/>
          <p:cNvSpPr/>
          <p:nvPr/>
        </p:nvSpPr>
        <p:spPr>
          <a:xfrm>
            <a:off x="7016750" y="3950742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0375" y="1755725"/>
            <a:ext cx="3295650" cy="4083100"/>
          </a:xfrm>
          <a:prstGeom prst="roundRect">
            <a:avLst>
              <a:gd name="adj" fmla="val 3757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2150" y="1987500"/>
            <a:ext cx="3060700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7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· BRANDWATCH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8315325" y="2273102"/>
            <a:ext cx="2825750" cy="878185"/>
          </a:xfrm>
          <a:prstGeom prst="roundRect">
            <a:avLst>
              <a:gd name="adj" fmla="val 112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70900" y="2415977"/>
            <a:ext cx="259003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35" name="Text 33"/>
          <p:cNvSpPr/>
          <p:nvPr/>
        </p:nvSpPr>
        <p:spPr>
          <a:xfrm>
            <a:off x="8470900" y="2803277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159" dirty="0"/>
          </a:p>
        </p:txBody>
      </p:sp>
      <p:sp>
        <p:nvSpPr>
          <p:cNvPr id="36" name="Shape 34"/>
          <p:cNvSpPr/>
          <p:nvPr/>
        </p:nvSpPr>
        <p:spPr>
          <a:xfrm>
            <a:off x="8315325" y="3246537"/>
            <a:ext cx="2825750" cy="878136"/>
          </a:xfrm>
          <a:prstGeom prst="roundRect">
            <a:avLst>
              <a:gd name="adj" fmla="val 112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0900" y="3389412"/>
            <a:ext cx="2590038" cy="374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38" name="Text 36"/>
          <p:cNvSpPr/>
          <p:nvPr/>
        </p:nvSpPr>
        <p:spPr>
          <a:xfrm>
            <a:off x="8470900" y="3776662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endParaRPr lang="en-US" sz="1159" dirty="0"/>
          </a:p>
        </p:txBody>
      </p:sp>
      <p:sp>
        <p:nvSpPr>
          <p:cNvPr id="39" name="Shape 37"/>
          <p:cNvSpPr/>
          <p:nvPr/>
        </p:nvSpPr>
        <p:spPr>
          <a:xfrm>
            <a:off x="8315325" y="4219922"/>
            <a:ext cx="2825750" cy="878185"/>
          </a:xfrm>
          <a:prstGeom prst="roundRect">
            <a:avLst>
              <a:gd name="adj" fmla="val 112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0900" y="4362797"/>
            <a:ext cx="259003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41" name="Text 39"/>
          <p:cNvSpPr/>
          <p:nvPr/>
        </p:nvSpPr>
        <p:spPr>
          <a:xfrm>
            <a:off x="8470900" y="4750098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</a:t>
            </a:r>
            <a:endParaRPr lang="en-US" sz="1159" dirty="0"/>
          </a:p>
        </p:txBody>
      </p:sp>
      <p:sp>
        <p:nvSpPr>
          <p:cNvPr id="42" name="Text 40"/>
          <p:cNvSpPr/>
          <p:nvPr/>
        </p:nvSpPr>
        <p:spPr>
          <a:xfrm>
            <a:off x="8312150" y="5190182"/>
            <a:ext cx="2917063" cy="44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1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lift positive sentiment from [0%] to [95%].</a:t>
            </a:r>
            <a:endParaRPr lang="en-US" sz="1185" dirty="0"/>
          </a:p>
        </p:txBody>
      </p:sp>
      <p:sp>
        <p:nvSpPr>
          <p:cNvPr id="43" name="Text 4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63598" y="6276330"/>
            <a:ext cx="21560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03 · PLATFORM RECOMMENDATION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PLATFORMS, TWO JOBS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5200650" cy="3511600"/>
          </a:xfrm>
          <a:prstGeom prst="roundRect">
            <a:avLst>
              <a:gd name="adj" fmla="val 3526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925" y="1990675"/>
            <a:ext cx="4730750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7356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[Creates the conversation]</a:t>
            </a:r>
            <a:endParaRPr lang="en-US" sz="2000" dirty="0"/>
          </a:p>
        </p:txBody>
      </p:sp>
      <p:pic>
        <p:nvPicPr>
          <p:cNvPr id="8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67261"/>
            <a:ext cx="1778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7150" y="276726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TikTok for this brand]</a:t>
            </a:r>
            <a:endParaRPr lang="en-US" sz="1300" dirty="0"/>
          </a:p>
        </p:txBody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079006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7150" y="3079006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[Audience fact for the target markets]</a:t>
            </a:r>
            <a:endParaRPr lang="en-US" sz="1300" dirty="0"/>
          </a:p>
        </p:txBody>
      </p:sp>
      <p:pic>
        <p:nvPicPr>
          <p:cNvPr id="12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390751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7150" y="339075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 point or example brand]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5375" y="1755725"/>
            <a:ext cx="5200650" cy="3511600"/>
          </a:xfrm>
          <a:prstGeom prst="roundRect">
            <a:avLst>
              <a:gd name="adj" fmla="val 3526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10325" y="1990675"/>
            <a:ext cx="4730750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7150" y="237356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[Reinforces consideration]</a:t>
            </a:r>
            <a:endParaRPr lang="en-US" sz="20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7150" y="2767261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86550" y="276726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Instagram for this brand]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7150" y="3079006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86550" y="3079006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[Audience fact for the target markets]</a:t>
            </a:r>
            <a:endParaRPr lang="en-US" sz="1300" dirty="0"/>
          </a:p>
        </p:txBody>
      </p:sp>
      <p:pic>
        <p:nvPicPr>
          <p:cNvPr id="21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07150" y="3390751"/>
            <a:ext cx="177800" cy="177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86550" y="339075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[Role in the purchase decision]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shows what a product looks like. </a:t>
            </a: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TikTok shows what it feels like.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177984" y="6276330"/>
            <a:ext cx="2012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04 · TARGET AUDIENCE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[1]: [AUDIENCE NAME]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49212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459143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7750" y="2277666"/>
            <a:ext cx="44577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2369741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6350" y="2369741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[Women]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47750" y="2684661"/>
            <a:ext cx="44577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2776736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6350" y="2776736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[25–40]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7750" y="3091656"/>
            <a:ext cx="44577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183731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6350" y="3183731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[UK, FR, DE, IT, ES, NL]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47750" y="3498652"/>
            <a:ext cx="44577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" y="3590727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MINDSET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46350" y="3590727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“[Their inner voice, in one line]”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7750" y="3991372"/>
            <a:ext cx="459143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lines describing their situation and what they look for on social]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59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7750" y="1987500"/>
            <a:ext cx="22630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INTERESTS</a:t>
            </a:r>
            <a:endParaRPr lang="en-US" sz="1200" dirty="0"/>
          </a:p>
        </p:txBody>
      </p:sp>
      <p:pic>
        <p:nvPicPr>
          <p:cNvPr id="22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7750" y="2274491"/>
            <a:ext cx="177800" cy="177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7150" y="227449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4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7750" y="2569121"/>
            <a:ext cx="177800" cy="1778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07150" y="256912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6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7750" y="2863751"/>
            <a:ext cx="177800" cy="1778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7150" y="286375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8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7750" y="3158381"/>
            <a:ext cx="177800" cy="1778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07150" y="315838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7153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947150" y="1987500"/>
            <a:ext cx="22630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 POINTS</a:t>
            </a:r>
            <a:endParaRPr lang="en-US" sz="1200" dirty="0"/>
          </a:p>
        </p:txBody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7150" y="2274491"/>
            <a:ext cx="177800" cy="177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26550" y="227449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47150" y="2569121"/>
            <a:ext cx="177800" cy="1778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26550" y="256912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6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47150" y="2863751"/>
            <a:ext cx="177800" cy="1778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226550" y="286375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8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47150" y="3158381"/>
            <a:ext cx="177800" cy="1778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226550" y="315838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11171486" y="6276330"/>
            <a:ext cx="2077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CHOOSING CREATORS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CREATOR TYPES WE RECOMMEND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23050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92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667" y="19875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2]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0667" y="23050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61809" y="1755725"/>
            <a:ext cx="3414216" cy="196215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584" y="19875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3]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3584" y="23050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4108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4]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425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8892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0667" y="4108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5]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20667" y="4425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61809" y="3876625"/>
            <a:ext cx="3414216" cy="1962200"/>
          </a:xfrm>
          <a:prstGeom prst="roundRect">
            <a:avLst>
              <a:gd name="adj" fmla="val 63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584" y="41084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6]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3584" y="44259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74214" y="6276330"/>
            <a:ext cx="2049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EXAMPLE CREATORS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1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7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98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98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56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38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74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274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74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274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95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795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53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35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71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71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71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71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592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592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550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32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868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868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868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868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389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389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68063" y="6276330"/>
            <a:ext cx="21113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SOURCING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1,000+ CREATORS TO YOUR SHORTLIST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6150" y="2256730"/>
            <a:ext cx="14605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&amp; targeting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6150" y="269101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agree goals, niches and creator style with you.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3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24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team builds a long list of 1,000+ vetted creators.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1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2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02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2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Wide-scale outreach to gauge creator interest.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9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0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80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Vetting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0150" y="2492921"/>
            <a:ext cx="14605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creator is scored for quality, performance and credibility.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27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8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58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Shortlist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58150" y="2492921"/>
            <a:ext cx="14605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receive creators who have already agreed to work with you.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05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6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36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choose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36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handle briefing through to content delivery.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71486" y="6276330"/>
            <a:ext cx="2077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06 · STRATEGIC POSITIONING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87090"/>
            <a:ext cx="11379200" cy="698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04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[CLIENT]. </a:t>
            </a:r>
            <a:r>
              <a:rPr lang="en-US" sz="5200" b="1" i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[THE HUMAN WAY.]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1887686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[One sentence: the philosophy behind the positioning]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4590504"/>
            <a:ext cx="3414167" cy="1248321"/>
          </a:xfrm>
          <a:prstGeom prst="roundRect">
            <a:avLst>
              <a:gd name="adj" fmla="val 9919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4822279"/>
            <a:ext cx="303913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CATEGORY SAYS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5109270"/>
            <a:ext cx="303913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competitors focus on]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8892" y="4590504"/>
            <a:ext cx="3414216" cy="1248321"/>
          </a:xfrm>
          <a:prstGeom prst="roundRect">
            <a:avLst>
              <a:gd name="adj" fmla="val 9919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667" y="4822279"/>
            <a:ext cx="30391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FEEL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0667" y="5109270"/>
            <a:ext cx="303918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human truth behind the purchase]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61858" y="4590504"/>
            <a:ext cx="3414167" cy="1248321"/>
          </a:xfrm>
          <a:prstGeom prst="roundRect">
            <a:avLst>
              <a:gd name="adj" fmla="val 9919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633" y="4822279"/>
            <a:ext cx="303913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[CLIENT] OWNS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3633" y="5109270"/>
            <a:ext cx="303913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space nobody else claims]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35023" y="6276330"/>
            <a:ext cx="2441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07 · CONTENT STRATEGY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FOR EVERY STAGE OF THE FUNNEL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5200" y="175255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FUNNEL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200" y="1752550"/>
            <a:ext cx="429056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75255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32800" y="1752550"/>
            <a:ext cx="28778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REACTION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209351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" y="220652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4550" y="219829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[Trends &amp; cultural moments]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4450" y="220652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reach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26450" y="219829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“[This is everywhere.]”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258752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550" y="270053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14550" y="269230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[Humour &amp; relatable]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4450" y="270053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 &amp; brand love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26450" y="269230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“[That’s literally me.]”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308153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550" y="319454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14550" y="318631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[Emotive storytelling]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94450" y="319454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connection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26450" y="318631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“[I felt that.]”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975" y="357554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550" y="368855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14550" y="368032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[Real talk &amp; community]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4450" y="368855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6450" y="368032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“[Finally, someone said it.]”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5975" y="406955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" y="418256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19C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14550" y="417433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[Search-led &amp; social SEO]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94450" y="418256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intent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26450" y="417433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“[Exactly what I needed.]”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975" y="456356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1550" y="4676577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19C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14550" y="466834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[Gifted UGC &amp; reviews]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94450" y="4676577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26450" y="466834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“[I want to try this.]”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178729" y="6276330"/>
            <a:ext cx="2004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5975" y="765175"/>
            <a:ext cx="2077591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[PILLAR 1 · TRENDS]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85641" y="811510"/>
            <a:ext cx="292810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08 · CONCEPT #[1]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11560"/>
            <a:ext cx="7822438" cy="46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[CONCEPT NAME]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1802854"/>
            <a:ext cx="78224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the format and why it performs on TikTok and Instagram.]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2207320"/>
            <a:ext cx="7588250" cy="1596876"/>
          </a:xfrm>
          <a:prstGeom prst="roundRect">
            <a:avLst>
              <a:gd name="adj" fmla="val 775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2439095"/>
            <a:ext cx="733844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PLAYS OUT</a:t>
            </a:r>
            <a:endParaRPr lang="en-US" sz="1200" dirty="0"/>
          </a:p>
        </p:txBody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26085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7150" y="2726085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[Opening hook or first scene]</a:t>
            </a:r>
            <a:endParaRPr lang="en-US" sz="1300" dirty="0"/>
          </a:p>
        </p:txBody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037830"/>
            <a:ext cx="177800" cy="177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7150" y="3037830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happens in the middle]</a:t>
            </a:r>
            <a:endParaRPr lang="en-US" sz="1300" dirty="0"/>
          </a:p>
        </p:txBody>
      </p:sp>
      <p:pic>
        <p:nvPicPr>
          <p:cNvPr id="13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349575"/>
            <a:ext cx="177800" cy="17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7150" y="3349575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[Where the product lands]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3959771"/>
            <a:ext cx="782243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tag line: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[Campaign line]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718550" y="768350"/>
            <a:ext cx="2654300" cy="5067300"/>
          </a:xfrm>
          <a:prstGeom prst="roundRect">
            <a:avLst>
              <a:gd name="adj" fmla="val 358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[Example video still · 9:16]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148566" y="6276330"/>
            <a:ext cx="23063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09 · HOOK STRATEGY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THE FIRST TWO SECONDS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523950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If the hook fails, nobody sees the rest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2123380"/>
            <a:ext cx="3431084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2355155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642146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“POV: [hook]”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0409" y="2123380"/>
            <a:ext cx="3431133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184" y="2355155"/>
            <a:ext cx="30566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2184" y="2642146"/>
            <a:ext cx="305661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“Me: [hook]”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44892" y="2123380"/>
            <a:ext cx="3431084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6667" y="2355155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STORYTELLING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6667" y="2642146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“Nobody tells you [hook]”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975" y="4047778"/>
            <a:ext cx="3431084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7750" y="4279553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7750" y="4566543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“Can we talk about [hook]?”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0409" y="4047778"/>
            <a:ext cx="3431133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184" y="4279553"/>
            <a:ext cx="30566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SEARCH-LED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2184" y="4566543"/>
            <a:ext cx="305661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“How does [hook] work?”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44892" y="4047778"/>
            <a:ext cx="3431084" cy="1791047"/>
          </a:xfrm>
          <a:prstGeom prst="roundRect">
            <a:avLst>
              <a:gd name="adj" fmla="val 69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667" y="4279553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GIFTED UGC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76667" y="4566543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“I’ve never seen [hook]”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48318" y="6276330"/>
            <a:ext cx="2308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10 · AI QUALITY CONTROL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VIDEO CHECKED BEFORE IT POSTS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9150" y="1758900"/>
            <a:ext cx="3289300" cy="4076750"/>
          </a:xfrm>
          <a:prstGeom prst="roundRect">
            <a:avLst>
              <a:gd name="adj" fmla="val 2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8000"/>
              </a:srgbClr>
            </a:solidFill>
            <a:prstDash val="dash"/>
          </a:ln>
        </p:spPr>
        <p:txBody>
          <a:bodyPr wrap="square" lIns="125672" tIns="130852" rIns="12567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video with Brainwave heatmap]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11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29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BRAINWAVE EDITS</a:t>
            </a:r>
            <a:endParaRPr lang="en-US" sz="1200" dirty="0"/>
          </a:p>
        </p:txBody>
      </p:sp>
      <p:pic>
        <p:nvPicPr>
          <p:cNvPr id="8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52950" y="2274491"/>
            <a:ext cx="1778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32350" y="2274491"/>
            <a:ext cx="36703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[Reshoot opening hook: weak engagement]</a:t>
            </a:r>
            <a:endParaRPr lang="en-US" sz="1300" dirty="0"/>
          </a:p>
        </p:txBody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2950" y="2586236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32350" y="2586236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[Add text overlays at 11s, 17s, 24s]</a:t>
            </a:r>
            <a:endParaRPr lang="en-US" sz="1300" dirty="0"/>
          </a:p>
        </p:txBody>
      </p:sp>
      <p:pic>
        <p:nvPicPr>
          <p:cNvPr id="12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52950" y="2897981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32350" y="2897981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[Cut scene 4: high drop-off]</a:t>
            </a:r>
            <a:endParaRPr lang="en-US" sz="1300" dirty="0"/>
          </a:p>
        </p:txBody>
      </p:sp>
      <p:pic>
        <p:nvPicPr>
          <p:cNvPr id="14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52950" y="3209727"/>
            <a:ext cx="177800" cy="177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2350" y="3209727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[Shorter CTA, bottom middle]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7153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947150" y="1987500"/>
            <a:ext cx="2263013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400" dirty="0"/>
          </a:p>
        </p:txBody>
      </p:sp>
      <p:sp>
        <p:nvSpPr>
          <p:cNvPr id="18" name="Text 12"/>
          <p:cNvSpPr/>
          <p:nvPr/>
        </p:nvSpPr>
        <p:spPr>
          <a:xfrm>
            <a:off x="8947150" y="2691061"/>
            <a:ext cx="226301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of Brainwave’s ad-impact predictions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947150" y="4728319"/>
            <a:ext cx="2263013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wks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8947150" y="5180409"/>
            <a:ext cx="226301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loop: launch, learn, brief the next wave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135023" y="6276330"/>
            <a:ext cx="2441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11 · PAID ADS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CREATOR VIDEOS INTO ADS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4198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613498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CREATOR ADS</a:t>
            </a:r>
            <a:endParaRPr lang="en-US" sz="1200" dirty="0"/>
          </a:p>
        </p:txBody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274491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7150" y="2274491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 posted from the creator’s own handle feel real and trusted</a:t>
            </a:r>
            <a:endParaRPr lang="en-US" sz="1300" dirty="0"/>
          </a:p>
        </p:txBody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2586236"/>
            <a:ext cx="177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7150" y="2586236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52% higher CTR than brand-handle ads</a:t>
            </a:r>
            <a:endParaRPr lang="en-US" sz="1300" dirty="0"/>
          </a:p>
        </p:txBody>
      </p:sp>
      <p:pic>
        <p:nvPicPr>
          <p:cNvPr id="11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2897981"/>
            <a:ext cx="177800" cy="177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7150" y="2897981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CPA down by up to 70%</a:t>
            </a:r>
            <a:endParaRPr lang="en-US" sz="1300" dirty="0"/>
          </a:p>
        </p:txBody>
      </p:sp>
      <p:pic>
        <p:nvPicPr>
          <p:cNvPr id="13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3209727"/>
            <a:ext cx="177800" cy="177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7150" y="3209727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[60] days usage rights included for your paid team</a:t>
            </a:r>
            <a:endParaRPr lang="en-US" sz="1300" dirty="0"/>
          </a:p>
        </p:txBody>
      </p:sp>
      <p:pic>
        <p:nvPicPr>
          <p:cNvPr id="15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3521472"/>
            <a:ext cx="177800" cy="177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7150" y="3521472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edits for paid included as added value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445375" y="1755725"/>
            <a:ext cx="3930650" cy="4083100"/>
          </a:xfrm>
          <a:prstGeom prst="roundRect">
            <a:avLst>
              <a:gd name="adj" fmla="val 3150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680325" y="1990675"/>
            <a:ext cx="3460750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OFFER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677150" y="2373561"/>
            <a:ext cx="3571113" cy="793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[FIRST 2 MONTHS] FREE</a:t>
            </a:r>
            <a:endParaRPr lang="en-US" sz="2800" dirty="0"/>
          </a:p>
        </p:txBody>
      </p:sp>
      <p:sp>
        <p:nvSpPr>
          <p:cNvPr id="20" name="Text 13"/>
          <p:cNvSpPr/>
          <p:nvPr/>
        </p:nvSpPr>
        <p:spPr>
          <a:xfrm>
            <a:off x="7677150" y="3230513"/>
            <a:ext cx="357111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run paid ads through your business manager, then hand over to your team, or keep going.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680325" y="4703514"/>
            <a:ext cx="3460750" cy="900361"/>
          </a:xfrm>
          <a:prstGeom prst="roundRect">
            <a:avLst>
              <a:gd name="adj" fmla="val 10932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835900" y="4846389"/>
            <a:ext cx="3244088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[15%]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7835900" y="52476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fee after the free period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147822" y="6276330"/>
            <a:ext cx="23137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12 · MEASUREMENT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REPORTS, ONE CLEAR ANSWER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25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4250" y="2345630"/>
            <a:ext cx="1719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4250" y="2647851"/>
            <a:ext cx="17195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vs paid reach, engagement and every content piece ranked.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4635" y="1755725"/>
            <a:ext cx="2005360" cy="4083100"/>
          </a:xfrm>
          <a:prstGeom prst="roundRect">
            <a:avLst>
              <a:gd name="adj" fmla="val 6175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2910" y="1949400"/>
            <a:ext cx="171961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22910" y="2345630"/>
            <a:ext cx="1719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uplift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22910" y="2647851"/>
            <a:ext cx="171961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vs unexposed survey: awareness, consideration, purchase intent.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9334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162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61620" y="2345630"/>
            <a:ext cx="1719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1620" y="2647851"/>
            <a:ext cx="17195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Brandwatch tone tracking across social.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32005" y="1755725"/>
            <a:ext cx="2005360" cy="4083100"/>
          </a:xfrm>
          <a:prstGeom prst="roundRect">
            <a:avLst>
              <a:gd name="adj" fmla="val 6175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0280" y="1949400"/>
            <a:ext cx="171961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0280" y="2345630"/>
            <a:ext cx="1719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0280" y="2647851"/>
            <a:ext cx="17196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 of category conversation vs competitors.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071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899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38990" y="2345630"/>
            <a:ext cx="17195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Emotional impact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38990" y="2861171"/>
            <a:ext cx="17195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 on attention, engagement and memory.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41323" y="6276330"/>
            <a:ext cx="2378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207966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533057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PACKAGE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5385445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12800" y="5550545"/>
            <a:ext cx="10883392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What [Client] gets, and what we guarantee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0560050" cy="3762970"/>
          </a:xfrm>
          <a:prstGeom prst="roundRect">
            <a:avLst>
              <a:gd name="adj" fmla="val 3291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50" y="1990675"/>
            <a:ext cx="100965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217418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16150" y="214942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 creation]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82100" y="21335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47750" y="2644725"/>
            <a:ext cx="100965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282823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16150" y="280347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82100" y="27876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47750" y="3298775"/>
            <a:ext cx="100965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348228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16150" y="345752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[Paid ads]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2100" y="34416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47750" y="3952825"/>
            <a:ext cx="100965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7750" y="413633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16150" y="411157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[TikTok Shop]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2100" y="40957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50925" y="4606875"/>
            <a:ext cx="10090150" cy="676870"/>
          </a:xfrm>
          <a:prstGeom prst="roundRect">
            <a:avLst>
              <a:gd name="adj" fmla="val 1454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1900" y="4821486"/>
            <a:ext cx="789177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INVESTMENT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46220" y="4749750"/>
            <a:ext cx="197129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gradFill rotWithShape="1">
                  <a:gsLst>
                    <a:gs pos="0">
                      <a:srgbClr val="E91E8C"/>
                    </a:gs>
                    <a:gs pos="55000">
                      <a:srgbClr val="8B5CF6"/>
                    </a:gs>
                    <a:gs pos="100000">
                      <a:srgbClr val="19C5FF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37900" y="6276330"/>
            <a:ext cx="241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CONTENT CREATION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1912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037011"/>
            <a:ext cx="35311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CONTENT CREATION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23681" y="1990675"/>
            <a:ext cx="1848594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[MOST POPULAR]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360861"/>
            <a:ext cx="268845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gradFill rotWithShape="1">
                  <a:gsLst>
                    <a:gs pos="0">
                      <a:srgbClr val="E91E8C"/>
                    </a:gs>
                    <a:gs pos="55000">
                      <a:srgbClr val="8B5CF6"/>
                    </a:gs>
                    <a:gs pos="100000">
                      <a:srgbClr val="19C5FF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€[10,000]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46798" y="2633911"/>
            <a:ext cx="11287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7750" y="2995861"/>
            <a:ext cx="58995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this package delivers]</a:t>
            </a:r>
            <a:endParaRPr lang="en-US" sz="1300" dirty="0"/>
          </a:p>
        </p:txBody>
      </p:sp>
      <p:pic>
        <p:nvPicPr>
          <p:cNvPr id="11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353991"/>
            <a:ext cx="177800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7150" y="335399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content creators · [5] videos each</a:t>
            </a:r>
            <a:endParaRPr lang="en-US" sz="1300" dirty="0"/>
          </a:p>
        </p:txBody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653036"/>
            <a:ext cx="177800" cy="177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7150" y="3653036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usage rights on your channels included</a:t>
            </a:r>
            <a:endParaRPr lang="en-US" sz="1300" dirty="0"/>
          </a:p>
        </p:txBody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95208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7150" y="395208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usage rights: [perpetuity]</a:t>
            </a:r>
            <a:endParaRPr lang="en-US" sz="13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251127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7150" y="4251127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Free: AI creative analysis + brand uplift report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4550172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7150" y="4550172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fees included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050925" y="5163195"/>
            <a:ext cx="5721350" cy="440680"/>
          </a:xfrm>
          <a:prstGeom prst="roundRect">
            <a:avLst>
              <a:gd name="adj" fmla="val 2233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19200" y="5284490"/>
            <a:ext cx="7352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762157" y="5267970"/>
            <a:ext cx="28418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[10] creators · [50] videos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913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4231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00" dirty="0"/>
          </a:p>
        </p:txBody>
      </p:sp>
      <p:pic>
        <p:nvPicPr>
          <p:cNvPr id="26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3150" y="2289721"/>
            <a:ext cx="330200" cy="330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54950" y="2287191"/>
            <a:ext cx="27523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GUARANTEED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7426325" y="2727226"/>
            <a:ext cx="1809750" cy="1043831"/>
          </a:xfrm>
          <a:prstGeom prst="roundRect">
            <a:avLst>
              <a:gd name="adj" fmla="val 942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581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[1.0M]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7581900" y="3201541"/>
            <a:ext cx="1549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views (boosted)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331325" y="2727226"/>
            <a:ext cx="1809750" cy="1043831"/>
          </a:xfrm>
          <a:prstGeom prst="roundRect">
            <a:avLst>
              <a:gd name="adj" fmla="val 942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486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[50]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9486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Videos delivered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426325" y="3866307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581900" y="4009182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€[0.00]</a:t>
            </a:r>
            <a:endParaRPr lang="en-US" sz="2100" dirty="0"/>
          </a:p>
        </p:txBody>
      </p:sp>
      <p:sp>
        <p:nvSpPr>
          <p:cNvPr id="36" name="Text 28"/>
          <p:cNvSpPr/>
          <p:nvPr/>
        </p:nvSpPr>
        <p:spPr>
          <a:xfrm>
            <a:off x="7581900" y="434062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view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9331325" y="3866307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486900" y="4009182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€[0.00]</a:t>
            </a:r>
            <a:endParaRPr lang="en-US" sz="2100" dirty="0"/>
          </a:p>
        </p:txBody>
      </p:sp>
      <p:sp>
        <p:nvSpPr>
          <p:cNvPr id="39" name="Text 31"/>
          <p:cNvSpPr/>
          <p:nvPr/>
        </p:nvSpPr>
        <p:spPr>
          <a:xfrm>
            <a:off x="9486900" y="434062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eCPM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1141323" y="6276330"/>
            <a:ext cx="2378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INFLUENCER CAMPAIGN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1912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037011"/>
            <a:ext cx="38727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INFLUENCER CAMPAIGN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23681" y="1990675"/>
            <a:ext cx="1848594" cy="290810"/>
          </a:xfrm>
          <a:prstGeom prst="roundRect">
            <a:avLst>
              <a:gd name="adj" fmla="val 50000"/>
            </a:avLst>
          </a:prstGeom>
          <a:solidFill>
            <a:srgbClr val="E91E8C">
              <a:alpha val="14000"/>
            </a:srgbClr>
          </a:solidFill>
          <a:ln w="6350">
            <a:solidFill>
              <a:srgbClr val="E91E8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[MOST POPULAR]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360861"/>
            <a:ext cx="278053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gradFill rotWithShape="1">
                  <a:gsLst>
                    <a:gs pos="0">
                      <a:srgbClr val="E91E8C"/>
                    </a:gs>
                    <a:gs pos="55000">
                      <a:srgbClr val="8B5CF6"/>
                    </a:gs>
                    <a:gs pos="100000">
                      <a:srgbClr val="19C5FF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€[30,000]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36194" y="2633911"/>
            <a:ext cx="11287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7750" y="2995861"/>
            <a:ext cx="58995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the campaign goal and audience]</a:t>
            </a:r>
            <a:endParaRPr lang="en-US" sz="1300" dirty="0"/>
          </a:p>
        </p:txBody>
      </p:sp>
      <p:pic>
        <p:nvPicPr>
          <p:cNvPr id="11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353991"/>
            <a:ext cx="177800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7150" y="335399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[18] hero creators · up to [250K] followers</a:t>
            </a:r>
            <a:endParaRPr lang="en-US" sz="1300" dirty="0"/>
          </a:p>
        </p:txBody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653036"/>
            <a:ext cx="177800" cy="177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7150" y="3653036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[100] micro creators · up to [40K] · gifted</a:t>
            </a:r>
            <a:endParaRPr lang="en-US" sz="1300" dirty="0"/>
          </a:p>
        </p:txBody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95208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7150" y="395208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video per creator · organic rights included</a:t>
            </a:r>
            <a:endParaRPr lang="en-US" sz="13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251127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7150" y="4251127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usage: [90 days] hero · [perpetuity] on [50] micro videos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4550172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7150" y="4550172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Free: AI creative analysis + brand uplift report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050925" y="5163195"/>
            <a:ext cx="5721350" cy="440680"/>
          </a:xfrm>
          <a:prstGeom prst="roundRect">
            <a:avLst>
              <a:gd name="adj" fmla="val 2233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19200" y="5284490"/>
            <a:ext cx="7352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633926" y="5267970"/>
            <a:ext cx="29700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[118] creators · [118] videos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913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4231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00" dirty="0"/>
          </a:p>
        </p:txBody>
      </p:sp>
      <p:pic>
        <p:nvPicPr>
          <p:cNvPr id="26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3150" y="2289721"/>
            <a:ext cx="330200" cy="330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54950" y="2287191"/>
            <a:ext cx="27523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GUARANTEED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7426325" y="272722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581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[8.0M]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7581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views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331325" y="272722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486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[7.2M]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9486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reach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426325" y="365298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581900" y="379586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€[0.009]</a:t>
            </a:r>
            <a:endParaRPr lang="en-US" sz="2100" dirty="0"/>
          </a:p>
        </p:txBody>
      </p:sp>
      <p:sp>
        <p:nvSpPr>
          <p:cNvPr id="36" name="Text 28"/>
          <p:cNvSpPr/>
          <p:nvPr/>
        </p:nvSpPr>
        <p:spPr>
          <a:xfrm>
            <a:off x="7581900" y="412730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view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9331325" y="365298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486900" y="379586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€[9.00]</a:t>
            </a:r>
            <a:endParaRPr lang="en-US" sz="2100" dirty="0"/>
          </a:p>
        </p:txBody>
      </p:sp>
      <p:sp>
        <p:nvSpPr>
          <p:cNvPr id="39" name="Text 31"/>
          <p:cNvSpPr/>
          <p:nvPr/>
        </p:nvSpPr>
        <p:spPr>
          <a:xfrm>
            <a:off x="9486900" y="412730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eCPM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7429500" y="4986089"/>
            <a:ext cx="3708400" cy="614611"/>
          </a:xfrm>
          <a:prstGeom prst="roundRect">
            <a:avLst>
              <a:gd name="adj" fmla="val 15498"/>
            </a:avLst>
          </a:prstGeom>
          <a:noFill/>
          <a:ln w="12700">
            <a:solidFill>
              <a:srgbClr val="8B5CF6">
                <a:alpha val="70000"/>
              </a:srgbClr>
            </a:solidFill>
            <a:prstDash val="dash"/>
          </a:ln>
        </p:spPr>
      </p:sp>
      <p:sp>
        <p:nvSpPr>
          <p:cNvPr id="41" name="Text 33"/>
          <p:cNvSpPr/>
          <p:nvPr/>
        </p:nvSpPr>
        <p:spPr>
          <a:xfrm>
            <a:off x="7600950" y="5081339"/>
            <a:ext cx="212029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SALES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600950" y="5292130"/>
            <a:ext cx="2211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[Excludes repeat purchases]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812362" y="5146725"/>
            <a:ext cx="1154088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[2,200]</a:t>
            </a:r>
            <a:endParaRPr lang="en-US" sz="2100" dirty="0"/>
          </a:p>
        </p:txBody>
      </p:sp>
      <p:sp>
        <p:nvSpPr>
          <p:cNvPr id="44" name="Text 3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1134775" y="6276330"/>
            <a:ext cx="24442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PAID ADS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MEDIA PROJECTIONS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0560050" cy="2655193"/>
          </a:xfrm>
          <a:prstGeom prst="roundRect">
            <a:avLst>
              <a:gd name="adj" fmla="val 466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0450" y="2000200"/>
          <a:ext cx="10083800" cy="2178943"/>
        </p:xfrm>
        <a:graphic>
          <a:graphicData uri="http://schemas.openxmlformats.org/drawingml/2006/table">
            <a:tbl>
              <a:tblPr/>
              <a:tblGrid>
                <a:gridCol w="1613408"/>
                <a:gridCol w="1815084"/>
                <a:gridCol w="1613408"/>
                <a:gridCol w="1815084"/>
                <a:gridCol w="1815084"/>
                <a:gridCol w="1411732"/>
              </a:tblGrid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media spend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revenue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per customer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8D0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938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7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155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7155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profit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8932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4490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[0.00]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4490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267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25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€[000]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31825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lifetime value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3602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9160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[00.0]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991600" y="5238304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ROI (incl. repeat purchases)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78431" y="6276330"/>
            <a:ext cx="20076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· TIKTOK SHOP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 &amp; FORECAST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477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Affiliate creators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74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274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videos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53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71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71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550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6850" y="1987500"/>
            <a:ext cx="211912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86850" y="2970461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GMV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5521325"/>
            <a:ext cx="32378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deliverables and KPI breakdown: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50655" y="5449590"/>
            <a:ext cx="2939405" cy="392410"/>
          </a:xfrm>
          <a:prstGeom prst="roundRect">
            <a:avLst>
              <a:gd name="adj" fmla="val 50000"/>
            </a:avLst>
          </a:prstGeom>
          <a:solidFill>
            <a:srgbClr val="E91E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[Open campaign breakdown]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49062" y="6276330"/>
            <a:ext cx="23013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0"/>
            <a:ext cx="6350000" cy="3810000"/>
          </a:xfrm>
          <a:prstGeom prst="rect">
            <a:avLst/>
          </a:prstGeom>
          <a:gradFill rotWithShape="1">
            <a:gsLst>
              <a:gs pos="0">
                <a:srgbClr val="8B5CF6">
                  <a:alpha val="26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4285655"/>
            <a:ext cx="640969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610745"/>
            <a:ext cx="640969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i="0" dirty="0">
                <a:gradFill rotWithShape="1">
                  <a:gsLst>
                    <a:gs pos="0">
                      <a:srgbClr val="E91E8C"/>
                    </a:gs>
                    <a:gs pos="55000">
                      <a:srgbClr val="8B5CF6"/>
                    </a:gs>
                    <a:gs pos="100000">
                      <a:srgbClr val="19C5FF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5550545"/>
            <a:ext cx="6409690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C8D0D8"/>
                </a:solidFill>
                <a:latin typeface="Playfair Display" pitchFamily="18" charset="0"/>
                <a:ea typeface="Playfair Display" pitchFamily="18" charset="-122"/>
                <a:cs typeface="Playfair Display" pitchFamily="18" charset="-120"/>
              </a:rPr>
              <a:t>Culture moves fast. We move faster.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45375" y="3551684"/>
            <a:ext cx="3930650" cy="2287141"/>
          </a:xfrm>
          <a:prstGeom prst="roundRect">
            <a:avLst>
              <a:gd name="adj" fmla="val 5414"/>
            </a:avLst>
          </a:prstGeom>
          <a:solidFill>
            <a:srgbClr val="121728"/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7150" y="3783459"/>
            <a:ext cx="35711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77150" y="4070449"/>
            <a:ext cx="357111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[Name]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77150" y="4433639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[Job title]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77150" y="4753670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[name]@houseofmarketers.com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77150" y="5073700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[+44 (0) 0000 000000]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77150" y="5393730"/>
            <a:ext cx="35711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D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Mark Square, Shoreditch, London EC2A 4EG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48814" y="6276330"/>
            <a:ext cx="2303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(Dark)">
  <a:themeElements>
    <a:clrScheme name="Proposal Template (Dark)">
      <a:dk1>
        <a:srgbClr val="2B1140"/>
      </a:dk1>
      <a:lt1>
        <a:srgbClr val="FFFFFF"/>
      </a:lt1>
      <a:dk2>
        <a:srgbClr val="402953"/>
      </a:dk2>
      <a:lt2>
        <a:srgbClr val="CAC4CF"/>
      </a:lt2>
      <a:accent1>
        <a:srgbClr val="E91E8C"/>
      </a:accent1>
      <a:accent2>
        <a:srgbClr val="8B5CF6"/>
      </a:accent2>
      <a:accent3>
        <a:srgbClr val="19C5FF"/>
      </a:accent3>
      <a:accent4>
        <a:srgbClr val="3B1660"/>
      </a:accent4>
      <a:accent5>
        <a:srgbClr val="C8D0D8"/>
      </a:accent5>
      <a:accent6>
        <a:srgbClr val="121728"/>
      </a:accent6>
      <a:hlink>
        <a:srgbClr val="0563C1"/>
      </a:hlink>
      <a:folHlink>
        <a:srgbClr val="954F72"/>
      </a:folHlink>
    </a:clrScheme>
    <a:fontScheme name="Proposal Template (Dark)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Template (Dark)</dc:title>
  <dc:subject/>
  <dc:creator/>
  <cp:lastModifiedBy/>
  <cp:revision>1</cp:revision>
  <dcterms:created xsi:type="dcterms:W3CDTF">2026-10-01T13:13:48Z</dcterms:created>
  <dcterms:modified xsi:type="dcterms:W3CDTF">2026-10-01T13:13:48Z</dcterms:modified>
</cp:coreProperties>
</file>