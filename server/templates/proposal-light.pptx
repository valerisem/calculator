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client name, date and campaign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slide. Edit only if positioning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uplift seen on campaigns using Brainwave. Check figures are current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any part not in scope; keep part numbers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 to five objectives. Lead with awareness, then channels, creators, conversation,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Part 1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months to the agreed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for Part 2. Each following slide carries its step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insights max. Duplicate the slide for a "what is working"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lengths are illustrative; set each bar width to the real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YouTube Shorts or others if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for each audience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 to six types. Keep descriptions to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per creator type. Examples only; final shortlist comes after outreach.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idea. Keep the headline to five words or fewer.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 across the funnel. Rename pillars per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per concept. Duplicate per pillar; keep the pillar pill and concept number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example hook per pillar. Brainwave ranks hooks at the content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agency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free period: the source deck says 3 months on one line and 2 months on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reporting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rows for parts not in scope. Agency fees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bracketed value per proposal. Pull numbers from the creator calculator.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bracketed value per proposal. Guaranteed tiles are contractual; the dashed box is an estimate. Check CPV against eCPM: €9 CPM = €0.009 per view. Gifted: show videos expected, not creators gifted.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Projections, not guarantees. State the repeat-purchase assumption used for lifetime value. Keep one currency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link with the campaign breakdown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for this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36290"/>
            <a:ext cx="1056640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2550"/>
            <a:ext cx="10566400" cy="429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houseofmarketers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3683595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 · [MONTH YEAR]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021386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i="0" dirty="0">
                <a:gradFill rotWithShape="1">
                  <a:gsLst>
                    <a:gs pos="0">
                      <a:srgbClr val="E91E8C"/>
                    </a:gs>
                    <a:gs pos="100000">
                      <a:srgbClr val="8B5CF6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[CLIENT NAME]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12800" y="4999286"/>
            <a:ext cx="10883392" cy="464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&amp; INFLUENCER PROPOSAL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5577880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[Campaign line, e.g. The human way]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65780" y="6276330"/>
            <a:ext cx="2134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HOUSE OF MARKETERS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SETS US APART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1523950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first agency, agile at scale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5975" y="2096046"/>
            <a:ext cx="2520950" cy="374277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7750" y="2327821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2751981"/>
            <a:ext cx="21191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creative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329808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Brainwave, our AI platform, reviews every video before it goes live.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5675" y="2096046"/>
            <a:ext cx="2520950" cy="374277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7450" y="2327821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27450" y="2751981"/>
            <a:ext cx="21191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TikTok-first since 2020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27450" y="3298081"/>
            <a:ext cx="211912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by one of the first TikTok EMEA employees.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5375" y="2096046"/>
            <a:ext cx="2520950" cy="374277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7150" y="2327821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7150" y="2751981"/>
            <a:ext cx="211912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 at scale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7150" y="306948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of the largest influencer outreach teams of any agency.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55075" y="2096046"/>
            <a:ext cx="2520950" cy="374277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86850" y="2327821"/>
            <a:ext cx="211912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86850" y="2751981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on results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86850" y="3069481"/>
            <a:ext cx="211912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views, brand uplift and sentiment reporting on every campaign.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35618" y="6276330"/>
            <a:ext cx="24358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AI PLATFORM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BRAINWAVE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844850"/>
            <a:ext cx="570331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use AI to make every video perform before, during and after it posts.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4003030"/>
            <a:ext cx="570331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Brainwave measures attention, emotion, cognition and memory against your target audience, with 98% accurate predictions of advertising impact.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56375" y="1755725"/>
            <a:ext cx="4819650" cy="1212800"/>
          </a:xfrm>
          <a:prstGeom prst="roundRect">
            <a:avLst>
              <a:gd name="adj" fmla="val 10210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88150" y="1987500"/>
            <a:ext cx="44867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POSTING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88150" y="2274491"/>
            <a:ext cx="4486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every creator video and tells us what to fix: hook, overlays, pacing, CTA.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56375" y="3101876"/>
            <a:ext cx="4819650" cy="1212800"/>
          </a:xfrm>
          <a:prstGeom prst="roundRect">
            <a:avLst>
              <a:gd name="adj" fmla="val 10210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88150" y="3333651"/>
            <a:ext cx="44867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LIVE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88150" y="3620641"/>
            <a:ext cx="4486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testing loops every 2 to 4 weeks, so each wave of briefs uses what is working.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6375" y="4448026"/>
            <a:ext cx="4819650" cy="1212800"/>
          </a:xfrm>
          <a:prstGeom prst="roundRect">
            <a:avLst>
              <a:gd name="adj" fmla="val 10210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88150" y="4679801"/>
            <a:ext cx="44867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PAID 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88150" y="4966791"/>
            <a:ext cx="4486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strongest clips in each video to cut into paid ads.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36313" y="6276330"/>
            <a:ext cx="24288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BRAINWAVE RESULTS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PERFORMANCE UPLIFT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19875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7750" y="25792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awareness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8892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0667" y="19875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+121%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20667" y="25792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recall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1809" y="1755725"/>
            <a:ext cx="3414216" cy="196215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93584" y="1987500"/>
            <a:ext cx="3039186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+82%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193584" y="2579291"/>
            <a:ext cx="30391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spent on website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975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47750" y="41084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+225%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47750" y="47001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8892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0667" y="4108400"/>
            <a:ext cx="30391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20667" y="4700191"/>
            <a:ext cx="30391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traffic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61809" y="3876625"/>
            <a:ext cx="3414216" cy="196220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584" y="4108400"/>
            <a:ext cx="3039186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+95%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193584" y="4700191"/>
            <a:ext cx="30391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19941" y="6276330"/>
            <a:ext cx="25925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1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91E8C"/>
              </a:gs>
              <a:gs pos="100000">
                <a:srgbClr val="8B5CF6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4218781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[CLIENT]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543871"/>
            <a:ext cx="10883392" cy="75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PROPOSAL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12800" y="5396260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12800" y="5561360"/>
            <a:ext cx="10883392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[One line on what this proposal sets out to do]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WILL DELIVER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PARTS, ONE CAMPAIGN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274491"/>
            <a:ext cx="211912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[Social channel content creation]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7750" y="285105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56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274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7450" y="2274491"/>
            <a:ext cx="2119122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[Influencer campaign &amp; gifting]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27450" y="309488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53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71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7150" y="2274491"/>
            <a:ext cx="211912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[Paid ads]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7150" y="260722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50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86850" y="1987500"/>
            <a:ext cx="211912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86850" y="2274491"/>
            <a:ext cx="211912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[TikTok Shop]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86850" y="2607221"/>
            <a:ext cx="211912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what this part delivers and why it matters for the client.]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27780" y="6276330"/>
            <a:ext cx="2514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CAMPAIGN WILL ACHIEVE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1959521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24000" y="1879550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1]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4000" y="2133550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477046"/>
            <a:ext cx="105664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687191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24000" y="2607221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2]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24000" y="2861221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204716"/>
            <a:ext cx="105664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414861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4000" y="3334891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3]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4000" y="3588891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932386"/>
            <a:ext cx="105664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142532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24000" y="4062561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4]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24000" y="4316561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660057"/>
            <a:ext cx="105664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870202"/>
            <a:ext cx="558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24000" y="4790232"/>
            <a:ext cx="101508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[OBJECTIVE 5]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24000" y="5044232"/>
            <a:ext cx="101508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success looks like]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31054" y="6276330"/>
            <a:ext cx="24814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1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91E8C"/>
              </a:gs>
              <a:gs pos="100000">
                <a:srgbClr val="8B5CF6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3493393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818483"/>
            <a:ext cx="10883392" cy="1476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CHANNEL CONTENT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12800" y="5396260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12800" y="5561360"/>
            <a:ext cx="10883392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channels before the campaign launches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APPROACH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RIGHT SPECIALISTS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073896"/>
            <a:ext cx="5991098" cy="8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WANT A TIKTOK CHANNEL? </a:t>
            </a:r>
            <a:r>
              <a:rPr lang="en-US" sz="28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HIRE TIKTOK CREATORS.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4022824"/>
            <a:ext cx="599109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hire a production company for a TV ad and a photographer for a shoot. Social content works the same way.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37375" y="1755725"/>
            <a:ext cx="4438650" cy="1207691"/>
          </a:xfrm>
          <a:prstGeom prst="roundRect">
            <a:avLst>
              <a:gd name="adj" fmla="val 1025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69150" y="1987500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Hired for craft, not audience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69150" y="2305000"/>
            <a:ext cx="40943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UGC creators who make platform-native content.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37375" y="3096766"/>
            <a:ext cx="4438650" cy="1207691"/>
          </a:xfrm>
          <a:prstGeom prst="roundRect">
            <a:avLst>
              <a:gd name="adj" fmla="val 1025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69150" y="3328541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Posted on your channels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69150" y="3646041"/>
            <a:ext cx="40943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made exclusively for [Client] TikTok and Instagram.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37375" y="4437807"/>
            <a:ext cx="4438650" cy="1207691"/>
          </a:xfrm>
          <a:prstGeom prst="roundRect">
            <a:avLst>
              <a:gd name="adj" fmla="val 1025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69150" y="4669582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cost-effective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69150" y="4987082"/>
            <a:ext cx="40943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production crew, no reach fee, more content for the budget.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27780" y="6276330"/>
            <a:ext cx="2514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TIMELINE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CHANNELS FIRST, THEN CAMPAIGN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177084" cy="3529409"/>
          </a:xfrm>
          <a:prstGeom prst="roundRect">
            <a:avLst>
              <a:gd name="adj" fmla="val 3897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0925" y="1990675"/>
            <a:ext cx="2707184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square" lIns="87587" tIns="11387" rIns="14182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373561"/>
            <a:ext cx="279494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channels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7750" y="2721521"/>
            <a:ext cx="279494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goes live first and how much content is banked]</a:t>
            </a:r>
            <a:endParaRPr lang="en-US" sz="1300" dirty="0"/>
          </a:p>
        </p:txBody>
      </p:sp>
      <p:pic>
        <p:nvPicPr>
          <p:cNvPr id="9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23234" y="3393430"/>
            <a:ext cx="254000" cy="254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07409" y="1755725"/>
            <a:ext cx="3177133" cy="3529409"/>
          </a:xfrm>
          <a:prstGeom prst="roundRect">
            <a:avLst>
              <a:gd name="adj" fmla="val 3897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42359" y="1990675"/>
            <a:ext cx="2707233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square" lIns="87587" tIns="11387" rIns="14181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39184" y="2373561"/>
            <a:ext cx="279499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Influencers take over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739184" y="2721521"/>
            <a:ext cx="279499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[How creator content starts flowing in]</a:t>
            </a:r>
            <a:endParaRPr lang="en-US" sz="1300" dirty="0"/>
          </a:p>
        </p:txBody>
      </p:sp>
      <p:pic>
        <p:nvPicPr>
          <p:cNvPr id="14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4717" y="3393430"/>
            <a:ext cx="254000" cy="254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98892" y="1755725"/>
            <a:ext cx="3177133" cy="3529409"/>
          </a:xfrm>
          <a:prstGeom prst="roundRect">
            <a:avLst>
              <a:gd name="adj" fmla="val 3897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433842" y="1990675"/>
            <a:ext cx="2707233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square" lIns="87587" tIns="11387" rIns="14181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430667" y="2373561"/>
            <a:ext cx="279499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Amplify &amp; repurpose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430667" y="2721521"/>
            <a:ext cx="279499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[How top performers are reused and boosted]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55931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result:</a:t>
            </a: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[one line on the connected content ecosystem this creates]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165185" y="6276330"/>
            <a:ext cx="21401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1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91E8C"/>
              </a:gs>
              <a:gs pos="100000">
                <a:srgbClr val="8B5CF6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4218781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543871"/>
            <a:ext cx="10883392" cy="75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INFLUENCER CAMPAIGN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12800" y="5396260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12800" y="5561360"/>
            <a:ext cx="10883392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plan, cast, create and measure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TWELVE STEPS TO LAUNCH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550" y="220722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1550" y="242818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8932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4900" y="220722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4900" y="242818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6267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250" y="209609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18250" y="2317055"/>
            <a:ext cx="22957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recommendation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36025" y="1755725"/>
            <a:ext cx="2540000" cy="134620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91600" y="220722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91600" y="242818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97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55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155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creators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8932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490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4490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positioning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6267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25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1825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strategy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36025" y="3235275"/>
            <a:ext cx="2540000" cy="1123950"/>
          </a:xfrm>
          <a:prstGeom prst="roundRect">
            <a:avLst>
              <a:gd name="adj" fmla="val 8757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91600" y="35756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91600" y="3796605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concepts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597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550" y="494407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1550" y="516503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Hook strategy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8932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44900" y="494407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44900" y="516503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quality control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6267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250" y="4944070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18250" y="5165030"/>
            <a:ext cx="22957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ads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836025" y="4492575"/>
            <a:ext cx="2540000" cy="1346250"/>
          </a:xfrm>
          <a:prstGeom prst="roundRect">
            <a:avLst>
              <a:gd name="adj" fmla="val 731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1600" y="4832945"/>
            <a:ext cx="229571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91600" y="5053905"/>
            <a:ext cx="229571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 &amp; reporting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178729" y="6276330"/>
            <a:ext cx="20047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01 · COMPETITOR ANALYSIS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CATEGORY GETS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414167" cy="40831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100" y="1993850"/>
            <a:ext cx="2937917" cy="1257300"/>
          </a:xfrm>
          <a:prstGeom prst="roundRect">
            <a:avLst>
              <a:gd name="adj" fmla="val 7576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[Image: competitor post]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3346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[Insight 1]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3663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we saw in competitor content and what it means for the client]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92" y="1755725"/>
            <a:ext cx="3414216" cy="40831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7017" y="1993850"/>
            <a:ext cx="2937966" cy="1257300"/>
          </a:xfrm>
          <a:prstGeom prst="roundRect">
            <a:avLst>
              <a:gd name="adj" fmla="val 7576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[Image: competitor post]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0667" y="334640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[Insight 2]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0667" y="3663900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we saw in competitor content and what it means for the client]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61858" y="1755725"/>
            <a:ext cx="3414167" cy="40831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99983" y="1993850"/>
            <a:ext cx="2937917" cy="1257300"/>
          </a:xfrm>
          <a:prstGeom prst="roundRect">
            <a:avLst>
              <a:gd name="adj" fmla="val 7576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[Image: competitor post]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93633" y="3346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[Insight 3]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93633" y="3663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we saw in competitor content and what it means for the client]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78431" y="6276330"/>
            <a:ext cx="20076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02 · BRAND ANALYSIS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 &amp; SENTIMENT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70548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1987500"/>
            <a:ext cx="678903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32529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1]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25750" y="2348111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EEE7FA"/>
          </a:solidFill>
          <a:ln/>
        </p:spPr>
      </p:sp>
      <p:sp>
        <p:nvSpPr>
          <p:cNvPr id="9" name="Shape 7"/>
          <p:cNvSpPr/>
          <p:nvPr/>
        </p:nvSpPr>
        <p:spPr>
          <a:xfrm>
            <a:off x="2825750" y="2348111"/>
            <a:ext cx="4064000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016750" y="232529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7750" y="265038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2]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25750" y="2673201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EEE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2825750" y="2673201"/>
            <a:ext cx="4052441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016750" y="265038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7750" y="297547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3]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25750" y="2998291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EEE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825750" y="2998291"/>
            <a:ext cx="4034135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016750" y="297547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7750" y="3300561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4]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25750" y="3323382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EEE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2825750" y="3323382"/>
            <a:ext cx="4000500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016750" y="3300561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7750" y="3625652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 5]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25750" y="3648472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EEE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825750" y="3648472"/>
            <a:ext cx="3918843" cy="152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016750" y="3625652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7750" y="3950742"/>
            <a:ext cx="1701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25750" y="3973562"/>
            <a:ext cx="4114800" cy="152400"/>
          </a:xfrm>
          <a:prstGeom prst="roundRect">
            <a:avLst>
              <a:gd name="adj" fmla="val 50000"/>
            </a:avLst>
          </a:prstGeom>
          <a:solidFill>
            <a:srgbClr val="EEE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2825750" y="3973562"/>
            <a:ext cx="3291830" cy="152400"/>
          </a:xfrm>
          <a:prstGeom prst="roundRect">
            <a:avLst>
              <a:gd name="adj" fmla="val 50000"/>
            </a:avLst>
          </a:prstGeom>
          <a:solidFill>
            <a:srgbClr val="E91E8C"/>
          </a:solidFill>
          <a:ln/>
        </p:spPr>
      </p:sp>
      <p:sp>
        <p:nvSpPr>
          <p:cNvPr id="30" name="Text 28"/>
          <p:cNvSpPr/>
          <p:nvPr/>
        </p:nvSpPr>
        <p:spPr>
          <a:xfrm>
            <a:off x="7016750" y="3950742"/>
            <a:ext cx="622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0375" y="1755725"/>
            <a:ext cx="3295650" cy="4083100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12150" y="1987500"/>
            <a:ext cx="3060700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7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· BRANDWATCH</a:t>
            </a:r>
            <a:endParaRPr lang="en-US" sz="1170" dirty="0"/>
          </a:p>
        </p:txBody>
      </p:sp>
      <p:sp>
        <p:nvSpPr>
          <p:cNvPr id="33" name="Shape 31"/>
          <p:cNvSpPr/>
          <p:nvPr/>
        </p:nvSpPr>
        <p:spPr>
          <a:xfrm>
            <a:off x="8315325" y="2273102"/>
            <a:ext cx="2825750" cy="878185"/>
          </a:xfrm>
          <a:prstGeom prst="roundRect">
            <a:avLst>
              <a:gd name="adj" fmla="val 11208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70900" y="2415977"/>
            <a:ext cx="2590038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1"/>
              </a:lnSpc>
              <a:buNone/>
            </a:pPr>
            <a:r>
              <a:rPr lang="en-US" sz="2519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2519" dirty="0"/>
          </a:p>
        </p:txBody>
      </p:sp>
      <p:sp>
        <p:nvSpPr>
          <p:cNvPr id="35" name="Text 33"/>
          <p:cNvSpPr/>
          <p:nvPr/>
        </p:nvSpPr>
        <p:spPr>
          <a:xfrm>
            <a:off x="8470900" y="2803277"/>
            <a:ext cx="2590038" cy="23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1159" dirty="0"/>
          </a:p>
        </p:txBody>
      </p:sp>
      <p:sp>
        <p:nvSpPr>
          <p:cNvPr id="36" name="Shape 34"/>
          <p:cNvSpPr/>
          <p:nvPr/>
        </p:nvSpPr>
        <p:spPr>
          <a:xfrm>
            <a:off x="8315325" y="3246537"/>
            <a:ext cx="2825750" cy="878136"/>
          </a:xfrm>
          <a:prstGeom prst="roundRect">
            <a:avLst>
              <a:gd name="adj" fmla="val 11208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70900" y="3389412"/>
            <a:ext cx="2590038" cy="374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1"/>
              </a:lnSpc>
              <a:buNone/>
            </a:pPr>
            <a:r>
              <a:rPr lang="en-US" sz="2519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2519" dirty="0"/>
          </a:p>
        </p:txBody>
      </p:sp>
      <p:sp>
        <p:nvSpPr>
          <p:cNvPr id="38" name="Text 36"/>
          <p:cNvSpPr/>
          <p:nvPr/>
        </p:nvSpPr>
        <p:spPr>
          <a:xfrm>
            <a:off x="8470900" y="3776662"/>
            <a:ext cx="2590038" cy="23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</a:t>
            </a:r>
            <a:endParaRPr lang="en-US" sz="1159" dirty="0"/>
          </a:p>
        </p:txBody>
      </p:sp>
      <p:sp>
        <p:nvSpPr>
          <p:cNvPr id="39" name="Shape 37"/>
          <p:cNvSpPr/>
          <p:nvPr/>
        </p:nvSpPr>
        <p:spPr>
          <a:xfrm>
            <a:off x="8315325" y="4219922"/>
            <a:ext cx="2825750" cy="878185"/>
          </a:xfrm>
          <a:prstGeom prst="roundRect">
            <a:avLst>
              <a:gd name="adj" fmla="val 11208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0900" y="4362797"/>
            <a:ext cx="2590038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1"/>
              </a:lnSpc>
              <a:buNone/>
            </a:pPr>
            <a:r>
              <a:rPr lang="en-US" sz="2519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[0%]</a:t>
            </a:r>
            <a:endParaRPr lang="en-US" sz="2519" dirty="0"/>
          </a:p>
        </p:txBody>
      </p:sp>
      <p:sp>
        <p:nvSpPr>
          <p:cNvPr id="41" name="Text 39"/>
          <p:cNvSpPr/>
          <p:nvPr/>
        </p:nvSpPr>
        <p:spPr>
          <a:xfrm>
            <a:off x="8470900" y="4750098"/>
            <a:ext cx="2590038" cy="23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</a:t>
            </a:r>
            <a:endParaRPr lang="en-US" sz="1159" dirty="0"/>
          </a:p>
        </p:txBody>
      </p:sp>
      <p:sp>
        <p:nvSpPr>
          <p:cNvPr id="42" name="Text 40"/>
          <p:cNvSpPr/>
          <p:nvPr/>
        </p:nvSpPr>
        <p:spPr>
          <a:xfrm>
            <a:off x="8312150" y="5190182"/>
            <a:ext cx="2917063" cy="442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9"/>
              </a:lnSpc>
              <a:buNone/>
            </a:pPr>
            <a:r>
              <a:rPr lang="en-US" sz="1185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lift positive sentiment from [0%] to [95%].</a:t>
            </a:r>
            <a:endParaRPr lang="en-US" sz="1185" dirty="0"/>
          </a:p>
        </p:txBody>
      </p:sp>
      <p:sp>
        <p:nvSpPr>
          <p:cNvPr id="43" name="Text 4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63598" y="6276330"/>
            <a:ext cx="21560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03 · PLATFORM RECOMMENDATION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PLATFORMS, TWO JOBS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5200650" cy="3511600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0925" y="1990675"/>
            <a:ext cx="4730750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square" lIns="87587" tIns="11387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2373561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[Creates the conversation]</a:t>
            </a:r>
            <a:endParaRPr lang="en-US" sz="2000" dirty="0"/>
          </a:p>
        </p:txBody>
      </p:sp>
      <p:pic>
        <p:nvPicPr>
          <p:cNvPr id="8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767261"/>
            <a:ext cx="177800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7150" y="276726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[Why TikTok for this brand]</a:t>
            </a:r>
            <a:endParaRPr lang="en-US" sz="1300" dirty="0"/>
          </a:p>
        </p:txBody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079006"/>
            <a:ext cx="177800" cy="17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7150" y="3079006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[Audience fact for the target markets]</a:t>
            </a:r>
            <a:endParaRPr lang="en-US" sz="1300" dirty="0"/>
          </a:p>
        </p:txBody>
      </p:sp>
      <p:pic>
        <p:nvPicPr>
          <p:cNvPr id="12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390751"/>
            <a:ext cx="177800" cy="177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7150" y="339075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[Proof point or example brand]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75375" y="1755725"/>
            <a:ext cx="5200650" cy="3511600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410325" y="1990675"/>
            <a:ext cx="4730750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square" lIns="87587" tIns="11387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7150" y="2373561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[Reinforces consideration]</a:t>
            </a:r>
            <a:endParaRPr lang="en-US" sz="2000" dirty="0"/>
          </a:p>
        </p:txBody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7150" y="2767261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86550" y="276726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[Why Instagram for this brand]</a:t>
            </a:r>
            <a:endParaRPr lang="en-US" sz="1300" dirty="0"/>
          </a:p>
        </p:txBody>
      </p:sp>
      <p:pic>
        <p:nvPicPr>
          <p:cNvPr id="19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07150" y="3079006"/>
            <a:ext cx="177800" cy="177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86550" y="3079006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[Audience fact for the target markets]</a:t>
            </a:r>
            <a:endParaRPr lang="en-US" sz="1300" dirty="0"/>
          </a:p>
        </p:txBody>
      </p:sp>
      <p:pic>
        <p:nvPicPr>
          <p:cNvPr id="21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07150" y="3390751"/>
            <a:ext cx="177800" cy="177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86550" y="3390751"/>
            <a:ext cx="45914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[Role in the purchase decision]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shows what a product looks like. </a:t>
            </a: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TikTok shows what it feels like.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1177984" y="6276330"/>
            <a:ext cx="2012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04 · TARGET AUDIENCE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[1]: [AUDIENCE NAME]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49212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1987500"/>
            <a:ext cx="459143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7750" y="2277666"/>
            <a:ext cx="44577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7750" y="2369741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46350" y="2369741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[Women]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47750" y="2684661"/>
            <a:ext cx="44577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2776736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6350" y="2776736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[25–40]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47750" y="3091656"/>
            <a:ext cx="44577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50" y="3183731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6350" y="3183731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[UK, FR, DE, IT, ES, NL]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47750" y="3498652"/>
            <a:ext cx="44577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7750" y="3590727"/>
            <a:ext cx="14478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MINDSET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46350" y="3590727"/>
            <a:ext cx="304787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“[Their inner voice, in one line]”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7750" y="3991372"/>
            <a:ext cx="459143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lines describing their situation and what they look for on social]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5975" y="1755725"/>
            <a:ext cx="2660650" cy="4083100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7750" y="1987500"/>
            <a:ext cx="226301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INTERESTS</a:t>
            </a:r>
            <a:endParaRPr lang="en-US" sz="1200" dirty="0"/>
          </a:p>
        </p:txBody>
      </p:sp>
      <p:pic>
        <p:nvPicPr>
          <p:cNvPr id="22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7750" y="2274491"/>
            <a:ext cx="177800" cy="177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7150" y="227449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pic>
        <p:nvPicPr>
          <p:cNvPr id="24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7750" y="2569121"/>
            <a:ext cx="177800" cy="1778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07150" y="256912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pic>
        <p:nvPicPr>
          <p:cNvPr id="26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7750" y="2863751"/>
            <a:ext cx="177800" cy="1778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7150" y="286375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pic>
        <p:nvPicPr>
          <p:cNvPr id="28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27750" y="3158381"/>
            <a:ext cx="177800" cy="1778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07150" y="315838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[Interest]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715375" y="1755725"/>
            <a:ext cx="2660650" cy="4083100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947150" y="1987500"/>
            <a:ext cx="226301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 POINTS</a:t>
            </a:r>
            <a:endParaRPr lang="en-US" sz="1200" dirty="0"/>
          </a:p>
        </p:txBody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47150" y="2274491"/>
            <a:ext cx="177800" cy="1778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226550" y="227449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pic>
        <p:nvPicPr>
          <p:cNvPr id="34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47150" y="2569121"/>
            <a:ext cx="177800" cy="1778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26550" y="256912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pic>
        <p:nvPicPr>
          <p:cNvPr id="36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47150" y="2863751"/>
            <a:ext cx="177800" cy="1778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226550" y="286375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pic>
        <p:nvPicPr>
          <p:cNvPr id="38" name="Image 7" descr="Che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947150" y="3158381"/>
            <a:ext cx="177800" cy="1778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226550" y="3158381"/>
            <a:ext cx="197523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[Pain point]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11171486" y="6276330"/>
            <a:ext cx="20771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 · CHOOSING CREATORS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CREATOR TYPES WE RECOMMEND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19875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1]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50" y="23050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92" y="1755725"/>
            <a:ext cx="3414167" cy="196215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0667" y="19875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2]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0667" y="23050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61809" y="1755725"/>
            <a:ext cx="3414216" cy="196215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93584" y="198750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3]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93584" y="2305000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47750" y="4108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4]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4425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8892" y="3876625"/>
            <a:ext cx="3414167" cy="196220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0667" y="41084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5]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20667" y="4425900"/>
            <a:ext cx="30391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61809" y="3876625"/>
            <a:ext cx="3414216" cy="1962200"/>
          </a:xfrm>
          <a:prstGeom prst="roundRect">
            <a:avLst>
              <a:gd name="adj" fmla="val 63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584" y="410840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 6]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3584" y="4425900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they post and why they fit the brand]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74214" y="6276330"/>
            <a:ext cx="20498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 · EXAMPLE CREATORS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[CREATOR TYPE]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1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7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77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98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98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56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38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274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274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274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274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95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795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53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135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71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71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71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71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592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592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55075" y="1755725"/>
            <a:ext cx="2520950" cy="40831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93200" y="1993850"/>
            <a:ext cx="2044700" cy="1574800"/>
          </a:xfrm>
          <a:prstGeom prst="roundRect">
            <a:avLst>
              <a:gd name="adj" fmla="val 6048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photo]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86850" y="366390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@[handle]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86850" y="3966121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[Niche] · [Market]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86850" y="4268341"/>
            <a:ext cx="89761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[000K]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86850" y="4504531"/>
            <a:ext cx="798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38978" y="4268341"/>
            <a:ext cx="956072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[0.0%]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38978" y="4504531"/>
            <a:ext cx="10863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168063" y="6276330"/>
            <a:ext cx="21113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05 · SOURCING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1,000+ CREATORS TO YOUR SHORTLIST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46150" y="2256730"/>
            <a:ext cx="146050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&amp; targeting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6150" y="269101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agree goals, niches and creator style with you.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93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24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150" y="249292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team builds a long list of 1,000+ vetted creators.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1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2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02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Outreach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2150" y="249292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Wide-scale outreach to gauge creator interest.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9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0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80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Vetting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0150" y="2492921"/>
            <a:ext cx="14605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creator is scored for quality, performance and credibility.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27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58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58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Shortlist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58150" y="2492921"/>
            <a:ext cx="14605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receive creators who have already agreed to work with you.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05975" y="1755725"/>
            <a:ext cx="1670050" cy="4083100"/>
          </a:xfrm>
          <a:prstGeom prst="roundRect">
            <a:avLst>
              <a:gd name="adj" fmla="val 5894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36150" y="1911300"/>
            <a:ext cx="14605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36150" y="2256730"/>
            <a:ext cx="1460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choose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36150" y="2492921"/>
            <a:ext cx="14605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handle briefing through to content delivery.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71486" y="6276330"/>
            <a:ext cx="20771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06 · STRATEGIC POSITIONING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87090"/>
            <a:ext cx="11379200" cy="698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304"/>
              </a:lnSpc>
              <a:buNone/>
            </a:pPr>
            <a:r>
              <a:rPr lang="en-US" sz="52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[CLIENT]. </a:t>
            </a:r>
            <a:r>
              <a:rPr lang="en-US" sz="5200" b="1" i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[THE HUMAN WAY.]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1887686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[One sentence: the philosophy behind the positioning]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5975" y="4590504"/>
            <a:ext cx="3414167" cy="1248321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7750" y="4822279"/>
            <a:ext cx="303913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CATEGORY SAYS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5109270"/>
            <a:ext cx="303913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competitors focus on]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8892" y="4590504"/>
            <a:ext cx="3414216" cy="1248321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0667" y="4822279"/>
            <a:ext cx="303918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FEEL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0667" y="5109270"/>
            <a:ext cx="303918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 human truth behind the purchase]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61858" y="4590504"/>
            <a:ext cx="3414167" cy="1248321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633" y="4822279"/>
            <a:ext cx="303913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[CLIENT] OWNS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3633" y="5109270"/>
            <a:ext cx="303913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 space nobody else claims]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35023" y="6276330"/>
            <a:ext cx="2441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07 · CONTENT STRATEGY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FOR EVERY STAGE OF THE FUNNEL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5200" y="175255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FUNNEL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8200" y="1752550"/>
            <a:ext cx="429056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75255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32800" y="1752550"/>
            <a:ext cx="28778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AUDIENCE REACTION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75" y="209351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" y="220652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14550" y="219829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[Trends &amp; cultural moments]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4450" y="220652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reach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26450" y="219829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“[This is everywhere.]”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975" y="258752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1550" y="270053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14550" y="269230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[Humour &amp; relatable]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4450" y="270053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Shares &amp; brand love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26450" y="269230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“[That’s literally me.]”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975" y="308153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550" y="319454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14550" y="318631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[Emotive storytelling]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94450" y="319454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connection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26450" y="318631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“[I felt that.]”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5975" y="357554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550" y="368855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14550" y="368032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[Real talk &amp; community]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94450" y="368855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26450" y="368032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“[Finally, someone said it.]”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5975" y="406955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550" y="4182566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14550" y="417433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[Search-led &amp; social SEO]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94450" y="4182566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intent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26450" y="417433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“[Exactly what I needed.]”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975" y="4563566"/>
            <a:ext cx="10560050" cy="424160"/>
          </a:xfrm>
          <a:prstGeom prst="roundRect">
            <a:avLst>
              <a:gd name="adj" fmla="val 2021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1550" y="4676577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14550" y="4668341"/>
            <a:ext cx="427748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[Gifted UGC &amp; reviews]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94450" y="4676577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26450" y="4668341"/>
            <a:ext cx="287782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“[I want to try this.]”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178729" y="6276330"/>
            <a:ext cx="20047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5975" y="765175"/>
            <a:ext cx="2077591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[PILLAR 1 · TRENDS]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85641" y="811510"/>
            <a:ext cx="292810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08 · CONCEPT #[1]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11560"/>
            <a:ext cx="7822438" cy="464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[CONCEPT NAME]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1802854"/>
            <a:ext cx="782243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[Two to three lines on the format and why it performs on TikTok and Instagram.]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2207320"/>
            <a:ext cx="7588250" cy="1596876"/>
          </a:xfrm>
          <a:prstGeom prst="roundRect">
            <a:avLst>
              <a:gd name="adj" fmla="val 7754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7750" y="2439095"/>
            <a:ext cx="733844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PLAYS OUT</a:t>
            </a:r>
            <a:endParaRPr lang="en-US" sz="1200" dirty="0"/>
          </a:p>
        </p:txBody>
      </p:sp>
      <p:pic>
        <p:nvPicPr>
          <p:cNvPr id="9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726085"/>
            <a:ext cx="177800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7150" y="2726085"/>
            <a:ext cx="70506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[Opening hook or first scene]</a:t>
            </a:r>
            <a:endParaRPr lang="en-US" sz="1300" dirty="0"/>
          </a:p>
        </p:txBody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037830"/>
            <a:ext cx="177800" cy="177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7150" y="3037830"/>
            <a:ext cx="70506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 happens in the middle]</a:t>
            </a:r>
            <a:endParaRPr lang="en-US" sz="1300" dirty="0"/>
          </a:p>
        </p:txBody>
      </p:sp>
      <p:pic>
        <p:nvPicPr>
          <p:cNvPr id="13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349575"/>
            <a:ext cx="177800" cy="177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7150" y="3349575"/>
            <a:ext cx="70506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[Where the product lands]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3959771"/>
            <a:ext cx="782243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tag line:</a:t>
            </a: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[Campaign line]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718550" y="768350"/>
            <a:ext cx="2654300" cy="5067300"/>
          </a:xfrm>
          <a:prstGeom prst="roundRect">
            <a:avLst>
              <a:gd name="adj" fmla="val 3589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[Example video still · 9:16]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148566" y="6276330"/>
            <a:ext cx="230634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09 · HOOK STRATEGY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THE FIRST TWO SECONDS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1523950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 hook fails, nobody sees the rest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5975" y="2096046"/>
            <a:ext cx="3431084" cy="180469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7750" y="2327821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614811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“POV: [hook]”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0409" y="2096046"/>
            <a:ext cx="3431133" cy="180469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2184" y="2327821"/>
            <a:ext cx="30566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2184" y="2614811"/>
            <a:ext cx="305661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“Me: [hook]”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44892" y="2096046"/>
            <a:ext cx="3431084" cy="180469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76667" y="2327821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STORYTELLING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76667" y="2614811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“Nobody tells you [hook]”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975" y="4034086"/>
            <a:ext cx="3431084" cy="1804739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47750" y="4265861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TALK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7750" y="4552851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“Can we talk about [hook]?”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80409" y="4034086"/>
            <a:ext cx="3431133" cy="1804739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2184" y="4265861"/>
            <a:ext cx="30566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SEARCH-LED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2184" y="4552851"/>
            <a:ext cx="305661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“How does [hook] work?”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44892" y="4034086"/>
            <a:ext cx="3431084" cy="1804739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76667" y="4265861"/>
            <a:ext cx="305656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GIFTED UGC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76667" y="4552851"/>
            <a:ext cx="3056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“I’ve never seen [hook]”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48318" y="6276330"/>
            <a:ext cx="23088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10 · AI QUALITY CONTROL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VIDEO CHECKED BEFORE IT POSTS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9150" y="1758900"/>
            <a:ext cx="3289300" cy="4076750"/>
          </a:xfrm>
          <a:prstGeom prst="roundRect">
            <a:avLst>
              <a:gd name="adj" fmla="val 2896"/>
            </a:avLst>
          </a:prstGeom>
          <a:solidFill>
            <a:srgbClr val="FBF9FE"/>
          </a:solidFill>
          <a:ln w="12700">
            <a:solidFill>
              <a:srgbClr val="C9BCE6"/>
            </a:solidFill>
            <a:prstDash val="dash"/>
          </a:ln>
        </p:spPr>
        <p:txBody>
          <a:bodyPr wrap="square" lIns="125672" tIns="130852" rIns="125672" bIns="130852" rtlCol="0" anchor="ctr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[Creator video with Brainwave heatmap]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21175" y="1755725"/>
            <a:ext cx="41846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52950" y="1987500"/>
            <a:ext cx="38327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BRAINWAVE EDITS</a:t>
            </a:r>
            <a:endParaRPr lang="en-US" sz="1200" dirty="0"/>
          </a:p>
        </p:txBody>
      </p:sp>
      <p:pic>
        <p:nvPicPr>
          <p:cNvPr id="8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52950" y="2274491"/>
            <a:ext cx="177800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32350" y="2274491"/>
            <a:ext cx="36703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[Reshoot opening hook: weak engagement]</a:t>
            </a:r>
            <a:endParaRPr lang="en-US" sz="1300" dirty="0"/>
          </a:p>
        </p:txBody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2950" y="2586236"/>
            <a:ext cx="177800" cy="17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32350" y="2586236"/>
            <a:ext cx="354495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[Add text overlays at 11s, 17s, 24s]</a:t>
            </a:r>
            <a:endParaRPr lang="en-US" sz="1300" dirty="0"/>
          </a:p>
        </p:txBody>
      </p:sp>
      <p:pic>
        <p:nvPicPr>
          <p:cNvPr id="12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52950" y="2897981"/>
            <a:ext cx="177800" cy="177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32350" y="2897981"/>
            <a:ext cx="354495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[Cut scene 4: high drop-off]</a:t>
            </a:r>
            <a:endParaRPr lang="en-US" sz="1300" dirty="0"/>
          </a:p>
        </p:txBody>
      </p:sp>
      <p:pic>
        <p:nvPicPr>
          <p:cNvPr id="14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52950" y="3209727"/>
            <a:ext cx="177800" cy="177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32350" y="3209727"/>
            <a:ext cx="354495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[Shorter CTA, bottom middle]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715375" y="1755725"/>
            <a:ext cx="2660650" cy="4083100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8947150" y="1987500"/>
            <a:ext cx="2263013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400" dirty="0"/>
          </a:p>
        </p:txBody>
      </p:sp>
      <p:sp>
        <p:nvSpPr>
          <p:cNvPr id="18" name="Text 12"/>
          <p:cNvSpPr/>
          <p:nvPr/>
        </p:nvSpPr>
        <p:spPr>
          <a:xfrm>
            <a:off x="8947150" y="2691061"/>
            <a:ext cx="226301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of Brainwave’s ad-impact predictions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947150" y="4728319"/>
            <a:ext cx="2263013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 wks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8947150" y="5180409"/>
            <a:ext cx="226301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loop: launch, learn, brief the next wave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135023" y="6276330"/>
            <a:ext cx="2441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11 · PAID ADS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CREATOR VIDEOS INTO ADS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64198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1987500"/>
            <a:ext cx="613498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CREATOR ADS</a:t>
            </a:r>
            <a:endParaRPr lang="en-US" sz="1200" dirty="0"/>
          </a:p>
        </p:txBody>
      </p:sp>
      <p:pic>
        <p:nvPicPr>
          <p:cNvPr id="7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274491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7150" y="2274491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 posted from the creator’s own handle feel real and trusted</a:t>
            </a:r>
            <a:endParaRPr lang="en-US" sz="1300" dirty="0"/>
          </a:p>
        </p:txBody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2586236"/>
            <a:ext cx="177800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7150" y="2586236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52% higher CTR than brand-handle ads</a:t>
            </a:r>
            <a:endParaRPr lang="en-US" sz="1300" dirty="0"/>
          </a:p>
        </p:txBody>
      </p:sp>
      <p:pic>
        <p:nvPicPr>
          <p:cNvPr id="11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2897981"/>
            <a:ext cx="177800" cy="177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7150" y="2897981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CPA down by up to 70%</a:t>
            </a:r>
            <a:endParaRPr lang="en-US" sz="1300" dirty="0"/>
          </a:p>
        </p:txBody>
      </p:sp>
      <p:pic>
        <p:nvPicPr>
          <p:cNvPr id="13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3209727"/>
            <a:ext cx="177800" cy="177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7150" y="3209727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[60] days usage rights included for your paid team</a:t>
            </a:r>
            <a:endParaRPr lang="en-US" sz="1300" dirty="0"/>
          </a:p>
        </p:txBody>
      </p:sp>
      <p:pic>
        <p:nvPicPr>
          <p:cNvPr id="15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7750" y="3521472"/>
            <a:ext cx="177800" cy="177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7150" y="3521472"/>
            <a:ext cx="584720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edits for paid included as added value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7445375" y="1755725"/>
            <a:ext cx="3930650" cy="408310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7680325" y="1990675"/>
            <a:ext cx="3460750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square" lIns="87587" tIns="11387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OFFER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677150" y="2373561"/>
            <a:ext cx="3571113" cy="793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[FIRST 2 MONTHS] FREE</a:t>
            </a:r>
            <a:endParaRPr lang="en-US" sz="2800" dirty="0"/>
          </a:p>
        </p:txBody>
      </p:sp>
      <p:sp>
        <p:nvSpPr>
          <p:cNvPr id="20" name="Text 13"/>
          <p:cNvSpPr/>
          <p:nvPr/>
        </p:nvSpPr>
        <p:spPr>
          <a:xfrm>
            <a:off x="7677150" y="3230513"/>
            <a:ext cx="357111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run paid ads through your business manager, then hand over to your team, or keep going.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680325" y="4703514"/>
            <a:ext cx="3460750" cy="900361"/>
          </a:xfrm>
          <a:prstGeom prst="roundRect">
            <a:avLst>
              <a:gd name="adj" fmla="val 10932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835900" y="4846389"/>
            <a:ext cx="3244088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[15%]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7835900" y="52476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fee after the free period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147822" y="6276330"/>
            <a:ext cx="23137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12 · MEASUREMENT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REPORTS, ONE CLEAR ANSWER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005310" cy="4083100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4250" y="1949400"/>
            <a:ext cx="171956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4250" y="2345630"/>
            <a:ext cx="1719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4250" y="2647851"/>
            <a:ext cx="17195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vs paid reach, engagement and every content piece ranked.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54635" y="1755725"/>
            <a:ext cx="2005360" cy="4083100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22910" y="1949400"/>
            <a:ext cx="171961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22910" y="2345630"/>
            <a:ext cx="1719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uplift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22910" y="2647851"/>
            <a:ext cx="171961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Exposed vs unexposed survey: awareness, consideration, purchase intent.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93345" y="1755725"/>
            <a:ext cx="2005310" cy="4083100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61620" y="1949400"/>
            <a:ext cx="171956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61620" y="2345630"/>
            <a:ext cx="1719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1620" y="2647851"/>
            <a:ext cx="17195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Brandwatch tone tracking across social.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32005" y="1755725"/>
            <a:ext cx="2005360" cy="4083100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0280" y="1949400"/>
            <a:ext cx="171961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0280" y="2345630"/>
            <a:ext cx="1719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0280" y="2647851"/>
            <a:ext cx="17196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share of category conversation vs competitors.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70715" y="1755725"/>
            <a:ext cx="2005310" cy="4083100"/>
          </a:xfrm>
          <a:prstGeom prst="roundRect">
            <a:avLst>
              <a:gd name="adj" fmla="val 6175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38990" y="1949400"/>
            <a:ext cx="171956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38990" y="2345630"/>
            <a:ext cx="17195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Emotional impact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38990" y="2861171"/>
            <a:ext cx="17195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Brainwave on attention, engagement and memory.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41323" y="6276330"/>
            <a:ext cx="2378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1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91E8C"/>
              </a:gs>
              <a:gs pos="100000">
                <a:srgbClr val="8B5CF6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4218781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543871"/>
            <a:ext cx="10883392" cy="75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PACKAGE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12800" y="5396260"/>
            <a:ext cx="15240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91E8C"/>
              </a:gs>
              <a:gs pos="55000">
                <a:srgbClr val="8B5CF6"/>
              </a:gs>
              <a:gs pos="100000">
                <a:srgbClr val="19C5FF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12800" y="5561360"/>
            <a:ext cx="10883392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[Client] gets, and what we guarantee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10560050" cy="376297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1990675"/>
            <a:ext cx="100965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" y="217418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16150" y="214942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[Social channel content creation]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82100" y="213355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47750" y="2644725"/>
            <a:ext cx="100965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282823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16150" y="280347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[Influencer campaign &amp; gifting]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82100" y="278760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47750" y="3298775"/>
            <a:ext cx="100965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" y="348228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16150" y="345752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[Paid ads]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82100" y="344165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47750" y="3952825"/>
            <a:ext cx="10096500" cy="0"/>
          </a:xfrm>
          <a:prstGeom prst="line">
            <a:avLst/>
          </a:prstGeom>
          <a:noFill/>
          <a:ln w="6350">
            <a:solidFill>
              <a:srgbClr val="E2D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7750" y="4136330"/>
            <a:ext cx="1066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16150" y="4111575"/>
            <a:ext cx="70768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[TikTok Shop]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2100" y="409570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50925" y="4606875"/>
            <a:ext cx="10090150" cy="676870"/>
          </a:xfrm>
          <a:prstGeom prst="roundRect">
            <a:avLst>
              <a:gd name="adj" fmla="val 1454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1900" y="4821486"/>
            <a:ext cx="789177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spc="150" kern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INVESTMENT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46220" y="4749750"/>
            <a:ext cx="197129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gradFill rotWithShape="1">
                  <a:gsLst>
                    <a:gs pos="0">
                      <a:srgbClr val="E91E8C"/>
                    </a:gs>
                    <a:gs pos="100000">
                      <a:srgbClr val="8B5CF6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37900" y="6276330"/>
            <a:ext cx="2413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CONTENT CREATION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[SOCIAL CHANNEL CONTENT]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61912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2037011"/>
            <a:ext cx="353115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CONTENT CREATION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23681" y="1990675"/>
            <a:ext cx="1848594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[MOST POPULAR]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360861"/>
            <a:ext cx="26990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€[10,000]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46798" y="2633911"/>
            <a:ext cx="11287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campaign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7750" y="2995861"/>
            <a:ext cx="589953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what this package delivers]</a:t>
            </a:r>
            <a:endParaRPr lang="en-US" sz="1300" dirty="0"/>
          </a:p>
        </p:txBody>
      </p:sp>
      <p:pic>
        <p:nvPicPr>
          <p:cNvPr id="11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3353991"/>
            <a:ext cx="177800" cy="177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7150" y="335399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[10] content creators · [5] videos each</a:t>
            </a:r>
            <a:endParaRPr lang="en-US" sz="1300" dirty="0"/>
          </a:p>
        </p:txBody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653036"/>
            <a:ext cx="177800" cy="177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7150" y="3653036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usage rights on your channels included</a:t>
            </a:r>
            <a:endParaRPr lang="en-US" sz="1300" dirty="0"/>
          </a:p>
        </p:txBody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952081"/>
            <a:ext cx="177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7150" y="395208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usage rights: [perpetuity]</a:t>
            </a:r>
            <a:endParaRPr lang="en-US" sz="1300" dirty="0"/>
          </a:p>
        </p:txBody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4251127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7150" y="4251127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Free: AI creative analysis + brand uplift report</a:t>
            </a:r>
            <a:endParaRPr lang="en-US" sz="1300" dirty="0"/>
          </a:p>
        </p:txBody>
      </p:sp>
      <p:pic>
        <p:nvPicPr>
          <p:cNvPr id="19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7750" y="4550172"/>
            <a:ext cx="177800" cy="177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7150" y="4550172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Agency fees included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050925" y="5163195"/>
            <a:ext cx="5721350" cy="440680"/>
          </a:xfrm>
          <a:prstGeom prst="roundRect">
            <a:avLst>
              <a:gd name="adj" fmla="val 22335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219200" y="5284490"/>
            <a:ext cx="7352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762157" y="5267970"/>
            <a:ext cx="284184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[10] creators · [50] videos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191375" y="1755725"/>
            <a:ext cx="41846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423150" y="1987500"/>
            <a:ext cx="38327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1200" dirty="0"/>
          </a:p>
        </p:txBody>
      </p:sp>
      <p:pic>
        <p:nvPicPr>
          <p:cNvPr id="26" name="Image 5" descr="Verified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3150" y="2289721"/>
            <a:ext cx="330200" cy="330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54950" y="2287191"/>
            <a:ext cx="275236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GUARANTEED</a:t>
            </a:r>
            <a:endParaRPr lang="en-US" sz="2400" dirty="0"/>
          </a:p>
        </p:txBody>
      </p:sp>
      <p:sp>
        <p:nvSpPr>
          <p:cNvPr id="28" name="Shape 20"/>
          <p:cNvSpPr/>
          <p:nvPr/>
        </p:nvSpPr>
        <p:spPr>
          <a:xfrm>
            <a:off x="7426325" y="2727226"/>
            <a:ext cx="1809750" cy="1043831"/>
          </a:xfrm>
          <a:prstGeom prst="roundRect">
            <a:avLst>
              <a:gd name="adj" fmla="val 9429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581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[1.0M]</a:t>
            </a:r>
            <a:endParaRPr lang="en-US" sz="2100" dirty="0"/>
          </a:p>
        </p:txBody>
      </p:sp>
      <p:sp>
        <p:nvSpPr>
          <p:cNvPr id="30" name="Text 22"/>
          <p:cNvSpPr/>
          <p:nvPr/>
        </p:nvSpPr>
        <p:spPr>
          <a:xfrm>
            <a:off x="7581900" y="3201541"/>
            <a:ext cx="1549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views (boosted)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331325" y="2727226"/>
            <a:ext cx="1809750" cy="1043831"/>
          </a:xfrm>
          <a:prstGeom prst="roundRect">
            <a:avLst>
              <a:gd name="adj" fmla="val 9429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486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[50]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9486900" y="3201541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Videos delivered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7426325" y="3866307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581900" y="4009182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€[0.00]</a:t>
            </a:r>
            <a:endParaRPr lang="en-US" sz="2100" dirty="0"/>
          </a:p>
        </p:txBody>
      </p:sp>
      <p:sp>
        <p:nvSpPr>
          <p:cNvPr id="36" name="Text 28"/>
          <p:cNvSpPr/>
          <p:nvPr/>
        </p:nvSpPr>
        <p:spPr>
          <a:xfrm>
            <a:off x="7581900" y="434062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view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9331325" y="3866307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486900" y="4009182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€[0.00]</a:t>
            </a:r>
            <a:endParaRPr lang="en-US" sz="2100" dirty="0"/>
          </a:p>
        </p:txBody>
      </p:sp>
      <p:sp>
        <p:nvSpPr>
          <p:cNvPr id="39" name="Text 31"/>
          <p:cNvSpPr/>
          <p:nvPr/>
        </p:nvSpPr>
        <p:spPr>
          <a:xfrm>
            <a:off x="9486900" y="434062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eCPM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1141323" y="6276330"/>
            <a:ext cx="23787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INFLUENCER CAMPAIGN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[INFLUENCER CAMPAIGN &amp; GIFTING]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61912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2037011"/>
            <a:ext cx="387275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INFLUENCER CAMPAIGN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23681" y="1990675"/>
            <a:ext cx="1848594" cy="290810"/>
          </a:xfrm>
          <a:prstGeom prst="roundRect">
            <a:avLst>
              <a:gd name="adj" fmla="val 50000"/>
            </a:avLst>
          </a:prstGeom>
          <a:solidFill>
            <a:srgbClr val="FDE8F3"/>
          </a:solidFill>
          <a:ln w="6350">
            <a:solidFill>
              <a:srgbClr val="F9A8D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spc="100" kern="0" dirty="0">
                <a:solidFill>
                  <a:srgbClr val="B012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[MOST POPULAR]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360861"/>
            <a:ext cx="278844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€[30,000]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36194" y="2633911"/>
            <a:ext cx="11287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campaign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7750" y="2995861"/>
            <a:ext cx="589953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on the campaign goal and audience]</a:t>
            </a:r>
            <a:endParaRPr lang="en-US" sz="1300" dirty="0"/>
          </a:p>
        </p:txBody>
      </p:sp>
      <p:pic>
        <p:nvPicPr>
          <p:cNvPr id="11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3353991"/>
            <a:ext cx="177800" cy="177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7150" y="335399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[18] hero creators · up to [250K] followers</a:t>
            </a:r>
            <a:endParaRPr lang="en-US" sz="1300" dirty="0"/>
          </a:p>
        </p:txBody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750" y="3653036"/>
            <a:ext cx="177800" cy="177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7150" y="3653036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[100] micro creators · up to [40K] · gifted</a:t>
            </a:r>
            <a:endParaRPr lang="en-US" sz="1300" dirty="0"/>
          </a:p>
        </p:txBody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" y="3952081"/>
            <a:ext cx="177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7150" y="3952081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video per creator · organic rights included</a:t>
            </a:r>
            <a:endParaRPr lang="en-US" sz="1300" dirty="0"/>
          </a:p>
        </p:txBody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4251127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7150" y="4251127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usage: [90 days] hero · [perpetuity] on [50] micro videos</a:t>
            </a:r>
            <a:endParaRPr lang="en-US" sz="1300" dirty="0"/>
          </a:p>
        </p:txBody>
      </p:sp>
      <p:pic>
        <p:nvPicPr>
          <p:cNvPr id="19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7750" y="4550172"/>
            <a:ext cx="177800" cy="177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7150" y="4550172"/>
            <a:ext cx="561174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Free: AI creative analysis + brand uplift report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050925" y="5163195"/>
            <a:ext cx="5721350" cy="440680"/>
          </a:xfrm>
          <a:prstGeom prst="roundRect">
            <a:avLst>
              <a:gd name="adj" fmla="val 22335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219200" y="5284490"/>
            <a:ext cx="73521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633926" y="5267970"/>
            <a:ext cx="297007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[118] creators · [118] videos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191375" y="1755725"/>
            <a:ext cx="4184650" cy="4083100"/>
          </a:xfrm>
          <a:prstGeom prst="roundRect">
            <a:avLst>
              <a:gd name="adj" fmla="val 3033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423150" y="1987500"/>
            <a:ext cx="383273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1200" dirty="0"/>
          </a:p>
        </p:txBody>
      </p:sp>
      <p:pic>
        <p:nvPicPr>
          <p:cNvPr id="26" name="Image 5" descr="Verified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3150" y="2289721"/>
            <a:ext cx="330200" cy="330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54950" y="2287191"/>
            <a:ext cx="275236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GUARANTEED</a:t>
            </a:r>
            <a:endParaRPr lang="en-US" sz="2400" dirty="0"/>
          </a:p>
        </p:txBody>
      </p:sp>
      <p:sp>
        <p:nvSpPr>
          <p:cNvPr id="28" name="Shape 20"/>
          <p:cNvSpPr/>
          <p:nvPr/>
        </p:nvSpPr>
        <p:spPr>
          <a:xfrm>
            <a:off x="7426325" y="272722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581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[8.0M]</a:t>
            </a:r>
            <a:endParaRPr lang="en-US" sz="2100" dirty="0"/>
          </a:p>
        </p:txBody>
      </p:sp>
      <p:sp>
        <p:nvSpPr>
          <p:cNvPr id="30" name="Text 22"/>
          <p:cNvSpPr/>
          <p:nvPr/>
        </p:nvSpPr>
        <p:spPr>
          <a:xfrm>
            <a:off x="7581900" y="3201541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views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331325" y="272722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486900" y="287010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[7.2M]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9486900" y="3201541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reach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7426325" y="365298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581900" y="379586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€[0.009]</a:t>
            </a:r>
            <a:endParaRPr lang="en-US" sz="2100" dirty="0"/>
          </a:p>
        </p:txBody>
      </p:sp>
      <p:sp>
        <p:nvSpPr>
          <p:cNvPr id="36" name="Text 28"/>
          <p:cNvSpPr/>
          <p:nvPr/>
        </p:nvSpPr>
        <p:spPr>
          <a:xfrm>
            <a:off x="7581900" y="412730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view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9331325" y="3652986"/>
            <a:ext cx="1809750" cy="830511"/>
          </a:xfrm>
          <a:prstGeom prst="roundRect">
            <a:avLst>
              <a:gd name="adj" fmla="val 11851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486900" y="3795861"/>
            <a:ext cx="1549400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€[9.00]</a:t>
            </a:r>
            <a:endParaRPr lang="en-US" sz="2100" dirty="0"/>
          </a:p>
        </p:txBody>
      </p:sp>
      <p:sp>
        <p:nvSpPr>
          <p:cNvPr id="39" name="Text 31"/>
          <p:cNvSpPr/>
          <p:nvPr/>
        </p:nvSpPr>
        <p:spPr>
          <a:xfrm>
            <a:off x="9486900" y="4127302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eCPM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7429500" y="4986089"/>
            <a:ext cx="3708400" cy="614611"/>
          </a:xfrm>
          <a:prstGeom prst="roundRect">
            <a:avLst>
              <a:gd name="adj" fmla="val 15498"/>
            </a:avLst>
          </a:prstGeom>
          <a:noFill/>
          <a:ln w="12700">
            <a:solidFill>
              <a:srgbClr val="C4B5FD"/>
            </a:solidFill>
            <a:prstDash val="dash"/>
          </a:ln>
        </p:spPr>
      </p:sp>
      <p:sp>
        <p:nvSpPr>
          <p:cNvPr id="41" name="Text 33"/>
          <p:cNvSpPr/>
          <p:nvPr/>
        </p:nvSpPr>
        <p:spPr>
          <a:xfrm>
            <a:off x="7600950" y="5081339"/>
            <a:ext cx="212029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SALES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7600950" y="5292130"/>
            <a:ext cx="2211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[Excludes repeat purchases]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812362" y="5146725"/>
            <a:ext cx="1154088" cy="318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[2,200]</a:t>
            </a:r>
            <a:endParaRPr lang="en-US" sz="2100" dirty="0"/>
          </a:p>
        </p:txBody>
      </p:sp>
      <p:sp>
        <p:nvSpPr>
          <p:cNvPr id="44" name="Text 3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1134775" y="6276330"/>
            <a:ext cx="24442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· PAID ADS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MEDIA PROJECTIONS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10560050" cy="2655193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0450" y="2000200"/>
          <a:ext cx="10083800" cy="2178943"/>
        </p:xfrm>
        <a:graphic>
          <a:graphicData uri="http://schemas.openxmlformats.org/drawingml/2006/table">
            <a:tbl>
              <a:tblPr/>
              <a:tblGrid>
                <a:gridCol w="1613408"/>
                <a:gridCol w="1815084"/>
                <a:gridCol w="1613408"/>
                <a:gridCol w="1815084"/>
                <a:gridCol w="1815084"/>
                <a:gridCol w="1411732"/>
              </a:tblGrid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B567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B567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Paid media spend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B567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B567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Paid revenue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B567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 per customer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B567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 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€[00,000]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€[00.00]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[0.00]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597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155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71550" y="5238304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profit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8932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4490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[0.00]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44900" y="5238304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267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25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€[000]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318250" y="5238304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lifetime value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36025" y="4722068"/>
            <a:ext cx="2540000" cy="1085751"/>
          </a:xfrm>
          <a:prstGeom prst="roundRect">
            <a:avLst>
              <a:gd name="adj" fmla="val 9065"/>
            </a:avLst>
          </a:prstGeom>
          <a:solidFill>
            <a:srgbClr val="F7F3FD"/>
          </a:solidFill>
          <a:ln w="6350">
            <a:solidFill>
              <a:srgbClr val="E2D9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91600" y="4864943"/>
            <a:ext cx="229571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[00.0]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991600" y="5238304"/>
            <a:ext cx="22957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ROI (incl. repeat purchases)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78431" y="6276330"/>
            <a:ext cx="20076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1088339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 · TIKTOK SHOP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03629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b="1" i="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 &amp; FORECAST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50" y="1987500"/>
            <a:ext cx="211912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[00]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47750" y="2523430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Affiliate creators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27450" y="1987500"/>
            <a:ext cx="211912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[00]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27450" y="2523430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Shoppable videos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53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7150" y="1987500"/>
            <a:ext cx="211912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[00]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7150" y="2523430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sessions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55075" y="1755725"/>
            <a:ext cx="2520950" cy="3385889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6850" y="1987500"/>
            <a:ext cx="211912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€[00,000]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86850" y="2970461"/>
            <a:ext cx="21191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GMV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5521325"/>
            <a:ext cx="32378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deliverables and KPI breakdown: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50655" y="5449590"/>
            <a:ext cx="2939405" cy="392410"/>
          </a:xfrm>
          <a:prstGeom prst="roundRect">
            <a:avLst>
              <a:gd name="adj" fmla="val 50000"/>
            </a:avLst>
          </a:prstGeom>
          <a:solidFill>
            <a:srgbClr val="E91E8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[Open campaign breakdown]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49062" y="6276330"/>
            <a:ext cx="23013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0EBFA"/>
              </a:gs>
              <a:gs pos="100000">
                <a:srgbClr val="E8E0F5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4312989"/>
            <a:ext cx="640969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4638080"/>
            <a:ext cx="640969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i="0" dirty="0">
                <a:gradFill rotWithShape="1">
                  <a:gsLst>
                    <a:gs pos="0">
                      <a:srgbClr val="E91E8C"/>
                    </a:gs>
                    <a:gs pos="100000">
                      <a:srgbClr val="8B5CF6"/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5577880"/>
            <a:ext cx="64096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Culture moves fast. We move faster.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45375" y="3551684"/>
            <a:ext cx="3930650" cy="2287141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E2D9F2"/>
            </a:solidFill>
            <a:prstDash val="solid"/>
          </a:ln>
          <a:effectLst>
            <a:outerShdw sx="100000" sy="100000" kx="0" ky="0" algn="bl" rotWithShape="0" blurRad="254000" dist="101600" dir="5400000">
              <a:srgbClr val="3C1E6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77150" y="3783459"/>
            <a:ext cx="357111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200" kern="0" dirty="0">
                <a:solidFill>
                  <a:srgbClr val="E91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77150" y="4070449"/>
            <a:ext cx="357111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[Name]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77150" y="4433639"/>
            <a:ext cx="357111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[Job title]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77150" y="4753670"/>
            <a:ext cx="357111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[name]@houseofmarketers.com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77150" y="5073700"/>
            <a:ext cx="357111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[+44 (0) 0000 000000]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77150" y="5393730"/>
            <a:ext cx="35711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Mark Square, Shoreditch, London EC2A 4EG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76330"/>
            <a:ext cx="39553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50" kern="0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OF MARKETERS × [CLIENT]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48814" y="6276330"/>
            <a:ext cx="23038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B5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(Light)">
  <a:themeElements>
    <a:clrScheme name="Proposal Template (Light)">
      <a:dk1>
        <a:srgbClr val="141413"/>
      </a:dk1>
      <a:lt1>
        <a:srgbClr val="F0EBFA"/>
      </a:lt1>
      <a:dk2>
        <a:srgbClr val="4B4A4D"/>
      </a:dk2>
      <a:lt2>
        <a:srgbClr val="DAD6E3"/>
      </a:lt2>
      <a:accent1>
        <a:srgbClr val="E91E8C"/>
      </a:accent1>
      <a:accent2>
        <a:srgbClr val="8B5CF6"/>
      </a:accent2>
      <a:accent3>
        <a:srgbClr val="B0126A"/>
      </a:accent3>
      <a:accent4>
        <a:srgbClr val="19C5FF"/>
      </a:accent4>
      <a:accent5>
        <a:srgbClr val="1A1A2E"/>
      </a:accent5>
      <a:accent6>
        <a:srgbClr val="5B5670"/>
      </a:accent6>
      <a:hlink>
        <a:srgbClr val="0563C1"/>
      </a:hlink>
      <a:folHlink>
        <a:srgbClr val="954F72"/>
      </a:folHlink>
    </a:clrScheme>
    <a:fontScheme name="Proposal Template (Light)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Template (Light)</dc:title>
  <dc:subject/>
  <dc:creator/>
  <cp:lastModifiedBy/>
  <cp:revision>1</cp:revision>
  <dcterms:created xsi:type="dcterms:W3CDTF">2026-10-01T13:13:41Z</dcterms:created>
  <dcterms:modified xsi:type="dcterms:W3CDTF">2026-10-01T13:13:41Z</dcterms:modified>
</cp:coreProperties>
</file>